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3"/>
    <p:sldMasterId id="214748367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Roboto"/>
      <p:regular r:id="rId22"/>
      <p:bold r:id="rId23"/>
      <p:italic r:id="rId24"/>
      <p:boldItalic r:id="rId25"/>
    </p:embeddedFont>
    <p:embeddedFont>
      <p:font typeface="Fira Sans Extra Condensed Medium"/>
      <p:regular r:id="rId26"/>
      <p:bold r:id="rId27"/>
      <p:italic r:id="rId28"/>
      <p:boldItalic r:id="rId29"/>
    </p:embeddedFont>
    <p:embeddedFont>
      <p:font typeface="Lato Light"/>
      <p:regular r:id="rId30"/>
      <p:bold r:id="rId31"/>
      <p:italic r:id="rId32"/>
      <p:boldItalic r:id="rId33"/>
    </p:embeddedFont>
    <p:embeddedFont>
      <p:font typeface="Fira Sans"/>
      <p:regular r:id="rId34"/>
      <p:bold r:id="rId35"/>
      <p:italic r:id="rId36"/>
      <p:boldItalic r:id="rId37"/>
    </p:embeddedFont>
    <p:embeddedFont>
      <p:font typeface="Fira Sans Condensed"/>
      <p:regular r:id="rId38"/>
      <p:bold r:id="rId39"/>
      <p:italic r:id="rId40"/>
      <p:boldItalic r:id="rId41"/>
    </p:embeddedFont>
    <p:embeddedFont>
      <p:font typeface="Fira Sans Condensed SemiBold"/>
      <p:regular r:id="rId42"/>
      <p:bold r:id="rId43"/>
      <p:italic r:id="rId44"/>
      <p:boldItalic r:id="rId45"/>
    </p:embeddedFont>
    <p:embeddedFont>
      <p:font typeface="Fira Sans Extra Condensed"/>
      <p:regular r:id="rId46"/>
      <p:bold r:id="rId47"/>
      <p:italic r:id="rId48"/>
      <p:boldItalic r:id="rId49"/>
    </p:embeddedFont>
    <p:embeddedFont>
      <p:font typeface="Fira Sans Extra Condensed SemiBold"/>
      <p:regular r:id="rId50"/>
      <p:bold r:id="rId51"/>
      <p:italic r:id="rId52"/>
      <p:boldItalic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FiraSansCondensed-italic.fntdata"/><Relationship Id="rId42" Type="http://schemas.openxmlformats.org/officeDocument/2006/relationships/font" Target="fonts/FiraSansCondensedSemiBold-regular.fntdata"/><Relationship Id="rId41" Type="http://schemas.openxmlformats.org/officeDocument/2006/relationships/font" Target="fonts/FiraSansCondensed-boldItalic.fntdata"/><Relationship Id="rId44" Type="http://schemas.openxmlformats.org/officeDocument/2006/relationships/font" Target="fonts/FiraSansCondensedSemiBold-italic.fntdata"/><Relationship Id="rId43" Type="http://schemas.openxmlformats.org/officeDocument/2006/relationships/font" Target="fonts/FiraSansCondensedSemiBold-bold.fntdata"/><Relationship Id="rId46" Type="http://schemas.openxmlformats.org/officeDocument/2006/relationships/font" Target="fonts/FiraSansExtraCondensed-regular.fntdata"/><Relationship Id="rId45" Type="http://schemas.openxmlformats.org/officeDocument/2006/relationships/font" Target="fonts/FiraSansCondensedSemiBold-boldItalic.fntdata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48" Type="http://schemas.openxmlformats.org/officeDocument/2006/relationships/font" Target="fonts/FiraSansExtraCondensed-italic.fntdata"/><Relationship Id="rId47" Type="http://schemas.openxmlformats.org/officeDocument/2006/relationships/font" Target="fonts/FiraSansExtraCondensed-bold.fntdata"/><Relationship Id="rId49" Type="http://schemas.openxmlformats.org/officeDocument/2006/relationships/font" Target="fonts/FiraSansExtraCondense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Light-bold.fntdata"/><Relationship Id="rId30" Type="http://schemas.openxmlformats.org/officeDocument/2006/relationships/font" Target="fonts/LatoLight-regular.fntdata"/><Relationship Id="rId33" Type="http://schemas.openxmlformats.org/officeDocument/2006/relationships/font" Target="fonts/LatoLight-boldItalic.fntdata"/><Relationship Id="rId32" Type="http://schemas.openxmlformats.org/officeDocument/2006/relationships/font" Target="fonts/LatoLight-italic.fntdata"/><Relationship Id="rId35" Type="http://schemas.openxmlformats.org/officeDocument/2006/relationships/font" Target="fonts/FiraSans-bold.fntdata"/><Relationship Id="rId34" Type="http://schemas.openxmlformats.org/officeDocument/2006/relationships/font" Target="fonts/FiraSans-regular.fntdata"/><Relationship Id="rId37" Type="http://schemas.openxmlformats.org/officeDocument/2006/relationships/font" Target="fonts/FiraSans-boldItalic.fntdata"/><Relationship Id="rId36" Type="http://schemas.openxmlformats.org/officeDocument/2006/relationships/font" Target="fonts/FiraSans-italic.fntdata"/><Relationship Id="rId39" Type="http://schemas.openxmlformats.org/officeDocument/2006/relationships/font" Target="fonts/FiraSansCondensed-bold.fntdata"/><Relationship Id="rId38" Type="http://schemas.openxmlformats.org/officeDocument/2006/relationships/font" Target="fonts/FiraSansCondensed-regular.fntdata"/><Relationship Id="rId20" Type="http://schemas.openxmlformats.org/officeDocument/2006/relationships/slide" Target="slides/slide15.xml"/><Relationship Id="rId22" Type="http://schemas.openxmlformats.org/officeDocument/2006/relationships/font" Target="fonts/Roboto-regular.fntdata"/><Relationship Id="rId21" Type="http://schemas.openxmlformats.org/officeDocument/2006/relationships/slide" Target="slides/slide16.xml"/><Relationship Id="rId24" Type="http://schemas.openxmlformats.org/officeDocument/2006/relationships/font" Target="fonts/Roboto-italic.fntdata"/><Relationship Id="rId23" Type="http://schemas.openxmlformats.org/officeDocument/2006/relationships/font" Target="fonts/Roboto-bold.fntdata"/><Relationship Id="rId26" Type="http://schemas.openxmlformats.org/officeDocument/2006/relationships/font" Target="fonts/FiraSansExtraCondensedMedium-regular.fntdata"/><Relationship Id="rId25" Type="http://schemas.openxmlformats.org/officeDocument/2006/relationships/font" Target="fonts/Roboto-boldItalic.fntdata"/><Relationship Id="rId28" Type="http://schemas.openxmlformats.org/officeDocument/2006/relationships/font" Target="fonts/FiraSansExtraCondensedMedium-italic.fntdata"/><Relationship Id="rId27" Type="http://schemas.openxmlformats.org/officeDocument/2006/relationships/font" Target="fonts/FiraSansExtraCondensedMedium-bold.fntdata"/><Relationship Id="rId29" Type="http://schemas.openxmlformats.org/officeDocument/2006/relationships/font" Target="fonts/FiraSansExtraCondensedMedium-boldItalic.fntdata"/><Relationship Id="rId51" Type="http://schemas.openxmlformats.org/officeDocument/2006/relationships/font" Target="fonts/FiraSansExtraCondensedSemiBold-bold.fntdata"/><Relationship Id="rId50" Type="http://schemas.openxmlformats.org/officeDocument/2006/relationships/font" Target="fonts/FiraSansExtraCondensedSemiBold-regular.fntdata"/><Relationship Id="rId53" Type="http://schemas.openxmlformats.org/officeDocument/2006/relationships/font" Target="fonts/FiraSansExtraCondensedSemiBold-boldItalic.fntdata"/><Relationship Id="rId52" Type="http://schemas.openxmlformats.org/officeDocument/2006/relationships/font" Target="fonts/FiraSansExtraCondensedSemiBold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a00a88a2fe_0_3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a00a88a2fe_0_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3fa00bd187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3fa00bd187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3fa00bd187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3fa00bd187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3fa00bd187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3fa00bd187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3fa00bd187_3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3fa00bd187_3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3fa00bd187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3fa00bd187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3fa00bd187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3fa00bd187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3fa00bd187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3fa00bd187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3f535bad1d_0_3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3f535bad1d_0_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3f535bad1d_0_8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3f535bad1d_0_8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3f535bad1d_0_8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3f535bad1d_0_8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3f535bad1d_0_9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3f535bad1d_0_9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3fa00bd187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3fa00bd187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3fa00bd18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3fa00bd18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3fa00bd187_3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3fa00bd187_3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3fa00bd187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3fa00bd187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457200" y="411475"/>
            <a:ext cx="4569000" cy="82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457200" y="1234975"/>
            <a:ext cx="2689200" cy="105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1" name="Google Shape;21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7" name="Google Shape;27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1" name="Google Shape;3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5" name="Google Shape;35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6" name="Google Shape;36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0" name="Google Shape;4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 txBox="1"/>
          <p:nvPr>
            <p:ph type="ctrTitle"/>
          </p:nvPr>
        </p:nvSpPr>
        <p:spPr>
          <a:xfrm>
            <a:off x="1111949" y="959848"/>
            <a:ext cx="4159500" cy="2486400"/>
          </a:xfrm>
          <a:prstGeom prst="rect">
            <a:avLst/>
          </a:prstGeom>
        </p:spPr>
        <p:txBody>
          <a:bodyPr anchorCtr="0" anchor="b" bIns="91425" lIns="91425" spcFirstLastPara="1" rIns="78100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0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2" name="Google Shape;52;p14"/>
          <p:cNvSpPr txBox="1"/>
          <p:nvPr>
            <p:ph idx="1" type="subTitle"/>
          </p:nvPr>
        </p:nvSpPr>
        <p:spPr>
          <a:xfrm>
            <a:off x="1111942" y="3446252"/>
            <a:ext cx="4159500" cy="43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7810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6"/>
          <p:cNvSpPr txBox="1"/>
          <p:nvPr>
            <p:ph type="title"/>
          </p:nvPr>
        </p:nvSpPr>
        <p:spPr>
          <a:xfrm>
            <a:off x="457200" y="411475"/>
            <a:ext cx="8229600" cy="457200"/>
          </a:xfrm>
          <a:prstGeom prst="rect">
            <a:avLst/>
          </a:prstGeom>
        </p:spPr>
        <p:txBody>
          <a:bodyPr anchorCtr="0" anchor="ctr" bIns="91425" lIns="91425" spcFirstLastPara="1" rIns="7810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7" name="Google Shape;57;p16"/>
          <p:cNvSpPr txBox="1"/>
          <p:nvPr>
            <p:ph idx="1" type="body"/>
          </p:nvPr>
        </p:nvSpPr>
        <p:spPr>
          <a:xfrm>
            <a:off x="457200" y="1118925"/>
            <a:ext cx="8229600" cy="3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7"/>
          <p:cNvSpPr txBox="1"/>
          <p:nvPr>
            <p:ph type="title"/>
          </p:nvPr>
        </p:nvSpPr>
        <p:spPr>
          <a:xfrm>
            <a:off x="457200" y="411475"/>
            <a:ext cx="8229600" cy="457200"/>
          </a:xfrm>
          <a:prstGeom prst="rect">
            <a:avLst/>
          </a:prstGeom>
        </p:spPr>
        <p:txBody>
          <a:bodyPr anchorCtr="0" anchor="ctr" bIns="91425" lIns="91425" spcFirstLastPara="1" rIns="7810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1" name="Google Shape;61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8"/>
          <p:cNvSpPr txBox="1"/>
          <p:nvPr>
            <p:ph type="title"/>
          </p:nvPr>
        </p:nvSpPr>
        <p:spPr>
          <a:xfrm>
            <a:off x="457200" y="411475"/>
            <a:ext cx="8229600" cy="457200"/>
          </a:xfrm>
          <a:prstGeom prst="rect">
            <a:avLst/>
          </a:prstGeom>
        </p:spPr>
        <p:txBody>
          <a:bodyPr anchorCtr="0" anchor="ctr" bIns="91425" lIns="91425" spcFirstLastPara="1" rIns="7810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7810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6" name="Google Shape;66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7810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7810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2" name="Google Shape;72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3" name="Google Shape;73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7810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8" name="Google Shape;78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1" sz="2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1" sz="2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1" sz="2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1" sz="2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1" sz="2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1" sz="2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1" sz="2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1" sz="2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1" sz="2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"/>
              <a:buChar char="●"/>
              <a:defRPr sz="1800">
                <a:latin typeface="Fira Sans"/>
                <a:ea typeface="Fira Sans"/>
                <a:cs typeface="Fira Sans"/>
                <a:sym typeface="Fira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○"/>
              <a:defRPr>
                <a:latin typeface="Fira Sans"/>
                <a:ea typeface="Fira Sans"/>
                <a:cs typeface="Fira Sans"/>
                <a:sym typeface="Fira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■"/>
              <a:defRPr>
                <a:latin typeface="Fira Sans"/>
                <a:ea typeface="Fira Sans"/>
                <a:cs typeface="Fira Sans"/>
                <a:sym typeface="Fira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●"/>
              <a:defRPr>
                <a:latin typeface="Fira Sans"/>
                <a:ea typeface="Fira Sans"/>
                <a:cs typeface="Fira Sans"/>
                <a:sym typeface="Fira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○"/>
              <a:defRPr>
                <a:latin typeface="Fira Sans"/>
                <a:ea typeface="Fira Sans"/>
                <a:cs typeface="Fira Sans"/>
                <a:sym typeface="Fira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■"/>
              <a:defRPr>
                <a:latin typeface="Fira Sans"/>
                <a:ea typeface="Fira Sans"/>
                <a:cs typeface="Fira Sans"/>
                <a:sym typeface="Fira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●"/>
              <a:defRPr>
                <a:latin typeface="Fira Sans"/>
                <a:ea typeface="Fira Sans"/>
                <a:cs typeface="Fira Sans"/>
                <a:sym typeface="Fira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○"/>
              <a:defRPr>
                <a:latin typeface="Fira Sans"/>
                <a:ea typeface="Fira Sans"/>
                <a:cs typeface="Fira Sans"/>
                <a:sym typeface="Fira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Fira Sans"/>
              <a:buChar char="■"/>
              <a:defRPr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">
          <p15:clr>
            <a:srgbClr val="EA4335"/>
          </p15:clr>
        </p15:guide>
        <p15:guide id="2" pos="5472">
          <p15:clr>
            <a:srgbClr val="EA4335"/>
          </p15:clr>
        </p15:guide>
        <p15:guide id="3" orient="horz" pos="259">
          <p15:clr>
            <a:srgbClr val="EA4335"/>
          </p15:clr>
        </p15:guide>
        <p15:guide id="4" orient="horz" pos="2981">
          <p15:clr>
            <a:srgbClr val="EA4335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"/>
          <p:cNvSpPr txBox="1"/>
          <p:nvPr>
            <p:ph type="title"/>
          </p:nvPr>
        </p:nvSpPr>
        <p:spPr>
          <a:xfrm>
            <a:off x="457200" y="411475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7810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 Medium"/>
              <a:buNone/>
              <a:defRPr sz="24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 Medium"/>
              <a:buNone/>
              <a:defRPr sz="24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 Medium"/>
              <a:buNone/>
              <a:defRPr sz="24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 Medium"/>
              <a:buNone/>
              <a:defRPr sz="24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 Medium"/>
              <a:buNone/>
              <a:defRPr sz="24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 Medium"/>
              <a:buNone/>
              <a:defRPr sz="24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 Medium"/>
              <a:buNone/>
              <a:defRPr sz="24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 Medium"/>
              <a:buNone/>
              <a:defRPr sz="24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 Medium"/>
              <a:buNone/>
              <a:defRPr sz="24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49" name="Google Shape;49;p13"/>
          <p:cNvSpPr txBox="1"/>
          <p:nvPr>
            <p:ph idx="1" type="body"/>
          </p:nvPr>
        </p:nvSpPr>
        <p:spPr>
          <a:xfrm>
            <a:off x="457200" y="1118925"/>
            <a:ext cx="8229600" cy="3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5.png"/><Relationship Id="rId7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://drive.google.com/file/d/1Ei5tm-7fMtYmNsWBhtsdMiqQjPFs7Fx_/view" TargetMode="External"/><Relationship Id="rId4" Type="http://schemas.openxmlformats.org/officeDocument/2006/relationships/image" Target="../media/image6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github.com/theorignalmapdcodex/dtk531_midsemproj/tree/main-development/mqtt%2Bgemini" TargetMode="External"/><Relationship Id="rId4" Type="http://schemas.openxmlformats.org/officeDocument/2006/relationships/hyperlink" Target="https://github.com/theorignalmapdcodex/dtk531_midsemproj/blob/main-development/dtk531_msp_healthinsights.ipynb" TargetMode="External"/><Relationship Id="rId10" Type="http://schemas.openxmlformats.org/officeDocument/2006/relationships/hyperlink" Target="https://docs.google.com/presentation/d/1QfNl9Ef3swc-Qplup72WJfyJbKB5sIz15dazVlrZD1M/edit?usp=sharing" TargetMode="External"/><Relationship Id="rId9" Type="http://schemas.openxmlformats.org/officeDocument/2006/relationships/hyperlink" Target="https://github.com/theorignalmapdcodex/dtk531_midsemproj/blob/main-development/README.md" TargetMode="External"/><Relationship Id="rId5" Type="http://schemas.openxmlformats.org/officeDocument/2006/relationships/hyperlink" Target="https://github.com/theorignalmapdcodex/dtk531_midsemproj/blob/main-development/dtk531_msp_healthinsights.ipynb" TargetMode="External"/><Relationship Id="rId6" Type="http://schemas.openxmlformats.org/officeDocument/2006/relationships/hyperlink" Target="https://github.com/theorignalmapdcodex/dtk531_midsemproj/blob/main-development/dtk531_msp_healthinsights.ipynb" TargetMode="External"/><Relationship Id="rId7" Type="http://schemas.openxmlformats.org/officeDocument/2006/relationships/hyperlink" Target="https://github.com/theorignalmapdcodex/dtk531_midsemproj/blob/main-development/README.md" TargetMode="External"/><Relationship Id="rId8" Type="http://schemas.openxmlformats.org/officeDocument/2006/relationships/hyperlink" Target="https://github.com/theorignalmapdcodex/dtk531_midsemproj/blob/main-development/README.md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5"/>
          <p:cNvSpPr txBox="1"/>
          <p:nvPr>
            <p:ph idx="1" type="subTitle"/>
          </p:nvPr>
        </p:nvSpPr>
        <p:spPr>
          <a:xfrm>
            <a:off x="5032425" y="3493438"/>
            <a:ext cx="3654300" cy="40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600"/>
              </a:spcAft>
              <a:buNone/>
            </a:pPr>
            <a:r>
              <a:rPr i="1" lang="en" sz="1600">
                <a:solidFill>
                  <a:schemeClr val="accent5"/>
                </a:solidFill>
              </a:rPr>
              <a:t>“Stay Ahead, Stay Healthy”</a:t>
            </a:r>
            <a:endParaRPr i="1" sz="1600">
              <a:solidFill>
                <a:schemeClr val="accent5"/>
              </a:solidFill>
            </a:endParaRPr>
          </a:p>
        </p:txBody>
      </p:sp>
      <p:sp>
        <p:nvSpPr>
          <p:cNvPr id="85" name="Google Shape;85;p25"/>
          <p:cNvSpPr txBox="1"/>
          <p:nvPr>
            <p:ph type="ctrTitle"/>
          </p:nvPr>
        </p:nvSpPr>
        <p:spPr>
          <a:xfrm>
            <a:off x="4226325" y="1623450"/>
            <a:ext cx="4460400" cy="200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6000">
                <a:solidFill>
                  <a:schemeClr val="accent4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Vitality</a:t>
            </a:r>
            <a:r>
              <a:rPr i="1" lang="en" sz="6000">
                <a:solidFill>
                  <a:schemeClr val="accent2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Sync</a:t>
            </a:r>
            <a:endParaRPr i="1" sz="6000">
              <a:solidFill>
                <a:schemeClr val="accent2"/>
              </a:solidFill>
              <a:latin typeface="Fira Sans Condensed"/>
              <a:ea typeface="Fira Sans Condensed"/>
              <a:cs typeface="Fira Sans Condensed"/>
              <a:sym typeface="Fira Sans Condensed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5000"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rPr>
              <a:t>Application</a:t>
            </a:r>
            <a:endParaRPr b="0" sz="5000">
              <a:latin typeface="Fira Sans Condensed SemiBold"/>
              <a:ea typeface="Fira Sans Condensed SemiBold"/>
              <a:cs typeface="Fira Sans Condensed SemiBold"/>
              <a:sym typeface="Fira Sans Condensed SemiBold"/>
            </a:endParaRPr>
          </a:p>
        </p:txBody>
      </p:sp>
      <p:sp>
        <p:nvSpPr>
          <p:cNvPr id="86" name="Google Shape;86;p25"/>
          <p:cNvSpPr/>
          <p:nvPr/>
        </p:nvSpPr>
        <p:spPr>
          <a:xfrm>
            <a:off x="997726" y="326300"/>
            <a:ext cx="1197420" cy="1197400"/>
          </a:xfrm>
          <a:custGeom>
            <a:rect b="b" l="l" r="r" t="t"/>
            <a:pathLst>
              <a:path extrusionOk="0" h="59990" w="59991">
                <a:moveTo>
                  <a:pt x="59990" y="0"/>
                </a:moveTo>
                <a:cubicBezTo>
                  <a:pt x="26871" y="0"/>
                  <a:pt x="1" y="26870"/>
                  <a:pt x="1" y="59989"/>
                </a:cubicBezTo>
                <a:lnTo>
                  <a:pt x="37819" y="59989"/>
                </a:lnTo>
                <a:cubicBezTo>
                  <a:pt x="37819" y="47691"/>
                  <a:pt x="47717" y="37693"/>
                  <a:pt x="59990" y="37693"/>
                </a:cubicBezTo>
                <a:lnTo>
                  <a:pt x="5999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5"/>
          <p:cNvSpPr/>
          <p:nvPr/>
        </p:nvSpPr>
        <p:spPr>
          <a:xfrm>
            <a:off x="2187538" y="326300"/>
            <a:ext cx="1197400" cy="1197400"/>
          </a:xfrm>
          <a:custGeom>
            <a:rect b="b" l="l" r="r" t="t"/>
            <a:pathLst>
              <a:path extrusionOk="0" h="59990" w="59990">
                <a:moveTo>
                  <a:pt x="0" y="0"/>
                </a:moveTo>
                <a:lnTo>
                  <a:pt x="0" y="37693"/>
                </a:lnTo>
                <a:cubicBezTo>
                  <a:pt x="12298" y="37693"/>
                  <a:pt x="22196" y="47691"/>
                  <a:pt x="22196" y="59989"/>
                </a:cubicBezTo>
                <a:lnTo>
                  <a:pt x="59990" y="59989"/>
                </a:lnTo>
                <a:cubicBezTo>
                  <a:pt x="59990" y="26870"/>
                  <a:pt x="33119" y="0"/>
                  <a:pt x="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5"/>
          <p:cNvSpPr/>
          <p:nvPr/>
        </p:nvSpPr>
        <p:spPr>
          <a:xfrm>
            <a:off x="997726" y="1516092"/>
            <a:ext cx="1197420" cy="1195404"/>
          </a:xfrm>
          <a:custGeom>
            <a:rect b="b" l="l" r="r" t="t"/>
            <a:pathLst>
              <a:path extrusionOk="0" h="59890" w="59991">
                <a:moveTo>
                  <a:pt x="1" y="0"/>
                </a:moveTo>
                <a:cubicBezTo>
                  <a:pt x="1" y="33019"/>
                  <a:pt x="26871" y="59889"/>
                  <a:pt x="59990" y="59889"/>
                </a:cubicBezTo>
                <a:lnTo>
                  <a:pt x="59990" y="22196"/>
                </a:lnTo>
                <a:cubicBezTo>
                  <a:pt x="47717" y="22196"/>
                  <a:pt x="37819" y="12198"/>
                  <a:pt x="3781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5"/>
          <p:cNvSpPr/>
          <p:nvPr/>
        </p:nvSpPr>
        <p:spPr>
          <a:xfrm>
            <a:off x="2187538" y="1516092"/>
            <a:ext cx="1197400" cy="1195404"/>
          </a:xfrm>
          <a:custGeom>
            <a:rect b="b" l="l" r="r" t="t"/>
            <a:pathLst>
              <a:path extrusionOk="0" h="59890" w="59990">
                <a:moveTo>
                  <a:pt x="22196" y="0"/>
                </a:moveTo>
                <a:cubicBezTo>
                  <a:pt x="22196" y="12198"/>
                  <a:pt x="12298" y="22196"/>
                  <a:pt x="0" y="22196"/>
                </a:cubicBezTo>
                <a:lnTo>
                  <a:pt x="0" y="59889"/>
                </a:lnTo>
                <a:cubicBezTo>
                  <a:pt x="33119" y="59889"/>
                  <a:pt x="59990" y="33019"/>
                  <a:pt x="5999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5"/>
          <p:cNvSpPr/>
          <p:nvPr/>
        </p:nvSpPr>
        <p:spPr>
          <a:xfrm flipH="1">
            <a:off x="2947263" y="3537943"/>
            <a:ext cx="437627" cy="1279233"/>
          </a:xfrm>
          <a:custGeom>
            <a:rect b="b" l="l" r="r" t="t"/>
            <a:pathLst>
              <a:path extrusionOk="0" h="14545" w="2302">
                <a:moveTo>
                  <a:pt x="0" y="1"/>
                </a:moveTo>
                <a:lnTo>
                  <a:pt x="0" y="14545"/>
                </a:lnTo>
                <a:lnTo>
                  <a:pt x="2302" y="14545"/>
                </a:lnTo>
                <a:lnTo>
                  <a:pt x="2302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5"/>
          <p:cNvSpPr/>
          <p:nvPr/>
        </p:nvSpPr>
        <p:spPr>
          <a:xfrm flipH="1">
            <a:off x="2297402" y="3141495"/>
            <a:ext cx="437633" cy="1675677"/>
          </a:xfrm>
          <a:custGeom>
            <a:rect b="b" l="l" r="r" t="t"/>
            <a:pathLst>
              <a:path extrusionOk="0" h="15812" w="2303">
                <a:moveTo>
                  <a:pt x="1" y="0"/>
                </a:moveTo>
                <a:lnTo>
                  <a:pt x="1" y="15812"/>
                </a:lnTo>
                <a:lnTo>
                  <a:pt x="2302" y="15812"/>
                </a:lnTo>
                <a:lnTo>
                  <a:pt x="2302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8817"/>
              </a:solidFill>
            </a:endParaRPr>
          </a:p>
        </p:txBody>
      </p:sp>
      <p:sp>
        <p:nvSpPr>
          <p:cNvPr id="92" name="Google Shape;92;p25"/>
          <p:cNvSpPr/>
          <p:nvPr/>
        </p:nvSpPr>
        <p:spPr>
          <a:xfrm flipH="1">
            <a:off x="1647567" y="4008434"/>
            <a:ext cx="437633" cy="805507"/>
          </a:xfrm>
          <a:custGeom>
            <a:rect b="b" l="l" r="r" t="t"/>
            <a:pathLst>
              <a:path extrusionOk="0" h="11209" w="2303">
                <a:moveTo>
                  <a:pt x="1" y="0"/>
                </a:moveTo>
                <a:lnTo>
                  <a:pt x="1" y="11208"/>
                </a:lnTo>
                <a:lnTo>
                  <a:pt x="2302" y="11208"/>
                </a:lnTo>
                <a:lnTo>
                  <a:pt x="230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5"/>
          <p:cNvSpPr/>
          <p:nvPr/>
        </p:nvSpPr>
        <p:spPr>
          <a:xfrm flipH="1">
            <a:off x="997723" y="3675958"/>
            <a:ext cx="437633" cy="1141128"/>
          </a:xfrm>
          <a:custGeom>
            <a:rect b="b" l="l" r="r" t="t"/>
            <a:pathLst>
              <a:path extrusionOk="0" h="14545" w="2303">
                <a:moveTo>
                  <a:pt x="0" y="1"/>
                </a:moveTo>
                <a:lnTo>
                  <a:pt x="0" y="14545"/>
                </a:lnTo>
                <a:lnTo>
                  <a:pt x="2302" y="14545"/>
                </a:lnTo>
                <a:lnTo>
                  <a:pt x="230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4" name="Google Shape;94;p25" title="MEngDTI_LogoBLU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2650" y="225825"/>
            <a:ext cx="2784075" cy="48012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25"/>
          <p:cNvSpPr txBox="1"/>
          <p:nvPr>
            <p:ph idx="1" type="subTitle"/>
          </p:nvPr>
        </p:nvSpPr>
        <p:spPr>
          <a:xfrm>
            <a:off x="5185100" y="4382877"/>
            <a:ext cx="3654300" cy="57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Michael Dankwah Agyeman-Prempeh (</a:t>
            </a:r>
            <a:r>
              <a:rPr lang="en" sz="1000"/>
              <a:t>MEng DTI ‘25)</a:t>
            </a:r>
            <a:endParaRPr sz="1000"/>
          </a:p>
          <a:p>
            <a:pPr indent="0" lvl="0" marL="0" rtl="0" algn="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sz="1000"/>
              <a:t>#DTK531_MIDSEMPROJECT_SPRING2025</a:t>
            </a:r>
            <a:endParaRPr sz="1000"/>
          </a:p>
        </p:txBody>
      </p:sp>
      <p:sp>
        <p:nvSpPr>
          <p:cNvPr id="96" name="Google Shape;96;p25"/>
          <p:cNvSpPr txBox="1"/>
          <p:nvPr>
            <p:ph type="ctrTitle"/>
          </p:nvPr>
        </p:nvSpPr>
        <p:spPr>
          <a:xfrm>
            <a:off x="7372675" y="1322925"/>
            <a:ext cx="1197300" cy="6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5000"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rPr>
              <a:t>The</a:t>
            </a:r>
            <a:endParaRPr b="0" sz="5000">
              <a:latin typeface="Fira Sans Condensed SemiBold"/>
              <a:ea typeface="Fira Sans Condensed SemiBold"/>
              <a:cs typeface="Fira Sans Condensed SemiBold"/>
              <a:sym typeface="Fira Sans Condensed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6"/>
          <p:cNvSpPr txBox="1"/>
          <p:nvPr>
            <p:ph type="ctrTitle"/>
          </p:nvPr>
        </p:nvSpPr>
        <p:spPr>
          <a:xfrm>
            <a:off x="2758800" y="2389200"/>
            <a:ext cx="3744600" cy="108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5000"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rPr>
              <a:t>Introduction</a:t>
            </a:r>
            <a:endParaRPr b="0" sz="5000">
              <a:latin typeface="Fira Sans Condensed SemiBold"/>
              <a:ea typeface="Fira Sans Condensed SemiBold"/>
              <a:cs typeface="Fira Sans Condensed SemiBold"/>
              <a:sym typeface="Fira Sans Condensed SemiBold"/>
            </a:endParaRPr>
          </a:p>
        </p:txBody>
      </p:sp>
      <p:sp>
        <p:nvSpPr>
          <p:cNvPr id="102" name="Google Shape;102;p26"/>
          <p:cNvSpPr txBox="1"/>
          <p:nvPr>
            <p:ph type="ctrTitle"/>
          </p:nvPr>
        </p:nvSpPr>
        <p:spPr>
          <a:xfrm>
            <a:off x="2301850" y="2389200"/>
            <a:ext cx="792900" cy="108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5000">
                <a:solidFill>
                  <a:schemeClr val="accent2"/>
                </a:solidFill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rPr>
              <a:t>#1</a:t>
            </a:r>
            <a:endParaRPr b="0" sz="5000">
              <a:solidFill>
                <a:schemeClr val="accent2"/>
              </a:solidFill>
              <a:latin typeface="Fira Sans Condensed SemiBold"/>
              <a:ea typeface="Fira Sans Condensed SemiBold"/>
              <a:cs typeface="Fira Sans Condensed SemiBold"/>
              <a:sym typeface="Fira Sans Condensed SemiBold"/>
            </a:endParaRPr>
          </a:p>
        </p:txBody>
      </p:sp>
      <p:sp>
        <p:nvSpPr>
          <p:cNvPr id="103" name="Google Shape;103;p26"/>
          <p:cNvSpPr/>
          <p:nvPr/>
        </p:nvSpPr>
        <p:spPr>
          <a:xfrm>
            <a:off x="3806164" y="1273074"/>
            <a:ext cx="622407" cy="622396"/>
          </a:xfrm>
          <a:custGeom>
            <a:rect b="b" l="l" r="r" t="t"/>
            <a:pathLst>
              <a:path extrusionOk="0" h="59990" w="59991">
                <a:moveTo>
                  <a:pt x="59990" y="0"/>
                </a:moveTo>
                <a:cubicBezTo>
                  <a:pt x="26871" y="0"/>
                  <a:pt x="1" y="26870"/>
                  <a:pt x="1" y="59989"/>
                </a:cubicBezTo>
                <a:lnTo>
                  <a:pt x="37819" y="59989"/>
                </a:lnTo>
                <a:cubicBezTo>
                  <a:pt x="37819" y="47691"/>
                  <a:pt x="47717" y="37693"/>
                  <a:pt x="59990" y="37693"/>
                </a:cubicBezTo>
                <a:lnTo>
                  <a:pt x="5999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6"/>
          <p:cNvSpPr/>
          <p:nvPr/>
        </p:nvSpPr>
        <p:spPr>
          <a:xfrm>
            <a:off x="4424584" y="1273074"/>
            <a:ext cx="622396" cy="622396"/>
          </a:xfrm>
          <a:custGeom>
            <a:rect b="b" l="l" r="r" t="t"/>
            <a:pathLst>
              <a:path extrusionOk="0" h="59990" w="59990">
                <a:moveTo>
                  <a:pt x="0" y="0"/>
                </a:moveTo>
                <a:lnTo>
                  <a:pt x="0" y="37693"/>
                </a:lnTo>
                <a:cubicBezTo>
                  <a:pt x="12298" y="37693"/>
                  <a:pt x="22196" y="47691"/>
                  <a:pt x="22196" y="59989"/>
                </a:cubicBezTo>
                <a:lnTo>
                  <a:pt x="59990" y="59989"/>
                </a:lnTo>
                <a:cubicBezTo>
                  <a:pt x="59990" y="26870"/>
                  <a:pt x="33119" y="0"/>
                  <a:pt x="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6"/>
          <p:cNvSpPr/>
          <p:nvPr/>
        </p:nvSpPr>
        <p:spPr>
          <a:xfrm>
            <a:off x="3806164" y="1891478"/>
            <a:ext cx="622407" cy="621359"/>
          </a:xfrm>
          <a:custGeom>
            <a:rect b="b" l="l" r="r" t="t"/>
            <a:pathLst>
              <a:path extrusionOk="0" h="59890" w="59991">
                <a:moveTo>
                  <a:pt x="1" y="0"/>
                </a:moveTo>
                <a:cubicBezTo>
                  <a:pt x="1" y="33019"/>
                  <a:pt x="26871" y="59889"/>
                  <a:pt x="59990" y="59889"/>
                </a:cubicBezTo>
                <a:lnTo>
                  <a:pt x="59990" y="22196"/>
                </a:lnTo>
                <a:cubicBezTo>
                  <a:pt x="47717" y="22196"/>
                  <a:pt x="37819" y="12198"/>
                  <a:pt x="3781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6"/>
          <p:cNvSpPr/>
          <p:nvPr/>
        </p:nvSpPr>
        <p:spPr>
          <a:xfrm>
            <a:off x="4424584" y="1891478"/>
            <a:ext cx="622396" cy="621359"/>
          </a:xfrm>
          <a:custGeom>
            <a:rect b="b" l="l" r="r" t="t"/>
            <a:pathLst>
              <a:path extrusionOk="0" h="59890" w="59990">
                <a:moveTo>
                  <a:pt x="22196" y="0"/>
                </a:moveTo>
                <a:cubicBezTo>
                  <a:pt x="22196" y="12198"/>
                  <a:pt x="12298" y="22196"/>
                  <a:pt x="0" y="22196"/>
                </a:cubicBezTo>
                <a:lnTo>
                  <a:pt x="0" y="59889"/>
                </a:lnTo>
                <a:cubicBezTo>
                  <a:pt x="33119" y="59889"/>
                  <a:pt x="59990" y="33019"/>
                  <a:pt x="5999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7"/>
          <p:cNvSpPr/>
          <p:nvPr/>
        </p:nvSpPr>
        <p:spPr>
          <a:xfrm>
            <a:off x="776162" y="1348000"/>
            <a:ext cx="3119512" cy="1146075"/>
          </a:xfrm>
          <a:custGeom>
            <a:rect b="b" l="l" r="r" t="t"/>
            <a:pathLst>
              <a:path extrusionOk="0" h="45843" w="108307">
                <a:moveTo>
                  <a:pt x="22921" y="0"/>
                </a:moveTo>
                <a:cubicBezTo>
                  <a:pt x="10298" y="0"/>
                  <a:pt x="0" y="10224"/>
                  <a:pt x="0" y="22921"/>
                </a:cubicBezTo>
                <a:cubicBezTo>
                  <a:pt x="0" y="35519"/>
                  <a:pt x="10298" y="45842"/>
                  <a:pt x="22921" y="45842"/>
                </a:cubicBezTo>
                <a:lnTo>
                  <a:pt x="108306" y="45842"/>
                </a:lnTo>
                <a:lnTo>
                  <a:pt x="108306" y="0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7"/>
          <p:cNvSpPr/>
          <p:nvPr/>
        </p:nvSpPr>
        <p:spPr>
          <a:xfrm>
            <a:off x="5199812" y="1348000"/>
            <a:ext cx="3178190" cy="1146075"/>
          </a:xfrm>
          <a:custGeom>
            <a:rect b="b" l="l" r="r" t="t"/>
            <a:pathLst>
              <a:path extrusionOk="0" h="45843" w="108332">
                <a:moveTo>
                  <a:pt x="0" y="0"/>
                </a:moveTo>
                <a:lnTo>
                  <a:pt x="0" y="45842"/>
                </a:lnTo>
                <a:lnTo>
                  <a:pt x="85410" y="45842"/>
                </a:lnTo>
                <a:cubicBezTo>
                  <a:pt x="98008" y="45842"/>
                  <a:pt x="108331" y="35519"/>
                  <a:pt x="108331" y="22921"/>
                </a:cubicBezTo>
                <a:cubicBezTo>
                  <a:pt x="108331" y="10224"/>
                  <a:pt x="98008" y="0"/>
                  <a:pt x="85410" y="0"/>
                </a:cubicBez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7"/>
          <p:cNvSpPr/>
          <p:nvPr/>
        </p:nvSpPr>
        <p:spPr>
          <a:xfrm>
            <a:off x="776259" y="2835225"/>
            <a:ext cx="3119512" cy="1145450"/>
          </a:xfrm>
          <a:custGeom>
            <a:rect b="b" l="l" r="r" t="t"/>
            <a:pathLst>
              <a:path extrusionOk="0" h="45818" w="108307">
                <a:moveTo>
                  <a:pt x="22921" y="1"/>
                </a:moveTo>
                <a:cubicBezTo>
                  <a:pt x="10298" y="1"/>
                  <a:pt x="0" y="10199"/>
                  <a:pt x="0" y="22896"/>
                </a:cubicBezTo>
                <a:cubicBezTo>
                  <a:pt x="0" y="35494"/>
                  <a:pt x="10298" y="45817"/>
                  <a:pt x="22921" y="45817"/>
                </a:cubicBezTo>
                <a:lnTo>
                  <a:pt x="108306" y="45817"/>
                </a:lnTo>
                <a:lnTo>
                  <a:pt x="108306" y="1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7"/>
          <p:cNvSpPr/>
          <p:nvPr/>
        </p:nvSpPr>
        <p:spPr>
          <a:xfrm>
            <a:off x="5199812" y="2835225"/>
            <a:ext cx="3121045" cy="1145450"/>
          </a:xfrm>
          <a:custGeom>
            <a:rect b="b" l="l" r="r" t="t"/>
            <a:pathLst>
              <a:path extrusionOk="0" h="45818" w="108332">
                <a:moveTo>
                  <a:pt x="0" y="1"/>
                </a:moveTo>
                <a:lnTo>
                  <a:pt x="0" y="45817"/>
                </a:lnTo>
                <a:lnTo>
                  <a:pt x="85410" y="45817"/>
                </a:lnTo>
                <a:cubicBezTo>
                  <a:pt x="98008" y="45817"/>
                  <a:pt x="108331" y="35494"/>
                  <a:pt x="108331" y="22896"/>
                </a:cubicBezTo>
                <a:cubicBezTo>
                  <a:pt x="108331" y="10199"/>
                  <a:pt x="98008" y="1"/>
                  <a:pt x="85410" y="1"/>
                </a:cubicBez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7"/>
          <p:cNvSpPr/>
          <p:nvPr/>
        </p:nvSpPr>
        <p:spPr>
          <a:xfrm>
            <a:off x="3046635" y="1134948"/>
            <a:ext cx="3000900" cy="3000900"/>
          </a:xfrm>
          <a:prstGeom prst="blockArc">
            <a:avLst>
              <a:gd fmla="val 10810477" name="adj1"/>
              <a:gd fmla="val 16196995" name="adj2"/>
              <a:gd fmla="val 28299" name="adj3"/>
            </a:avLst>
          </a:prstGeom>
          <a:solidFill>
            <a:srgbClr val="2646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7"/>
          <p:cNvSpPr/>
          <p:nvPr/>
        </p:nvSpPr>
        <p:spPr>
          <a:xfrm flipH="1">
            <a:off x="3043168" y="1134948"/>
            <a:ext cx="3000900" cy="3000900"/>
          </a:xfrm>
          <a:prstGeom prst="blockArc">
            <a:avLst>
              <a:gd fmla="val 10810477" name="adj1"/>
              <a:gd fmla="val 16196995" name="adj2"/>
              <a:gd fmla="val 28299" name="adj3"/>
            </a:avLst>
          </a:prstGeom>
          <a:solidFill>
            <a:srgbClr val="E76F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7"/>
          <p:cNvSpPr/>
          <p:nvPr/>
        </p:nvSpPr>
        <p:spPr>
          <a:xfrm rot="10800000">
            <a:off x="3044896" y="1125205"/>
            <a:ext cx="3000900" cy="3000900"/>
          </a:xfrm>
          <a:prstGeom prst="blockArc">
            <a:avLst>
              <a:gd fmla="val 10810477" name="adj1"/>
              <a:gd fmla="val 16196995" name="adj2"/>
              <a:gd fmla="val 28299" name="adj3"/>
            </a:avLst>
          </a:prstGeom>
          <a:solidFill>
            <a:srgbClr val="F4A2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7"/>
          <p:cNvSpPr/>
          <p:nvPr/>
        </p:nvSpPr>
        <p:spPr>
          <a:xfrm flipH="1" rot="10800000">
            <a:off x="3046635" y="1125205"/>
            <a:ext cx="3000900" cy="3000900"/>
          </a:xfrm>
          <a:prstGeom prst="blockArc">
            <a:avLst>
              <a:gd fmla="val 10810477" name="adj1"/>
              <a:gd fmla="val 16196995" name="adj2"/>
              <a:gd fmla="val 28299" name="adj3"/>
            </a:avLst>
          </a:prstGeom>
          <a:solidFill>
            <a:srgbClr val="2A9D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7"/>
          <p:cNvSpPr/>
          <p:nvPr/>
        </p:nvSpPr>
        <p:spPr>
          <a:xfrm>
            <a:off x="4213125" y="2295887"/>
            <a:ext cx="669300" cy="669275"/>
          </a:xfrm>
          <a:custGeom>
            <a:rect b="b" l="l" r="r" t="t"/>
            <a:pathLst>
              <a:path extrusionOk="0" h="26771" w="26772">
                <a:moveTo>
                  <a:pt x="13349" y="1"/>
                </a:moveTo>
                <a:cubicBezTo>
                  <a:pt x="5950" y="1"/>
                  <a:pt x="1" y="6050"/>
                  <a:pt x="1" y="13448"/>
                </a:cubicBezTo>
                <a:cubicBezTo>
                  <a:pt x="1" y="20847"/>
                  <a:pt x="5950" y="26771"/>
                  <a:pt x="13349" y="26771"/>
                </a:cubicBezTo>
                <a:cubicBezTo>
                  <a:pt x="20722" y="26771"/>
                  <a:pt x="26771" y="20847"/>
                  <a:pt x="26771" y="13448"/>
                </a:cubicBezTo>
                <a:cubicBezTo>
                  <a:pt x="26771" y="6050"/>
                  <a:pt x="20722" y="1"/>
                  <a:pt x="13349" y="1"/>
                </a:cubicBezTo>
                <a:close/>
              </a:path>
            </a:pathLst>
          </a:custGeom>
          <a:solidFill>
            <a:srgbClr val="8AB1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7"/>
          <p:cNvSpPr txBox="1"/>
          <p:nvPr/>
        </p:nvSpPr>
        <p:spPr>
          <a:xfrm>
            <a:off x="457200" y="411450"/>
            <a:ext cx="82296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Problem Space Probing</a:t>
            </a:r>
            <a:endParaRPr b="1" sz="3000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21" name="Google Shape;121;p27"/>
          <p:cNvSpPr/>
          <p:nvPr/>
        </p:nvSpPr>
        <p:spPr>
          <a:xfrm>
            <a:off x="550875" y="1566100"/>
            <a:ext cx="669300" cy="669275"/>
          </a:xfrm>
          <a:custGeom>
            <a:rect b="b" l="l" r="r" t="t"/>
            <a:pathLst>
              <a:path extrusionOk="0" h="26771" w="26772">
                <a:moveTo>
                  <a:pt x="13349" y="1"/>
                </a:moveTo>
                <a:cubicBezTo>
                  <a:pt x="5950" y="1"/>
                  <a:pt x="1" y="6050"/>
                  <a:pt x="1" y="13448"/>
                </a:cubicBezTo>
                <a:cubicBezTo>
                  <a:pt x="1" y="20847"/>
                  <a:pt x="5950" y="26771"/>
                  <a:pt x="13349" y="26771"/>
                </a:cubicBezTo>
                <a:cubicBezTo>
                  <a:pt x="20722" y="26771"/>
                  <a:pt x="26771" y="20847"/>
                  <a:pt x="26771" y="13448"/>
                </a:cubicBezTo>
                <a:cubicBezTo>
                  <a:pt x="26771" y="6050"/>
                  <a:pt x="20722" y="1"/>
                  <a:pt x="13349" y="1"/>
                </a:cubicBezTo>
                <a:close/>
              </a:path>
            </a:pathLst>
          </a:custGeom>
          <a:solidFill>
            <a:srgbClr val="2646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7"/>
          <p:cNvSpPr/>
          <p:nvPr/>
        </p:nvSpPr>
        <p:spPr>
          <a:xfrm>
            <a:off x="7921300" y="1601270"/>
            <a:ext cx="671800" cy="669275"/>
          </a:xfrm>
          <a:custGeom>
            <a:rect b="b" l="l" r="r" t="t"/>
            <a:pathLst>
              <a:path extrusionOk="0" h="26771" w="26872">
                <a:moveTo>
                  <a:pt x="13424" y="1"/>
                </a:moveTo>
                <a:cubicBezTo>
                  <a:pt x="6050" y="1"/>
                  <a:pt x="1" y="6050"/>
                  <a:pt x="1" y="13448"/>
                </a:cubicBezTo>
                <a:cubicBezTo>
                  <a:pt x="1" y="20847"/>
                  <a:pt x="6050" y="26771"/>
                  <a:pt x="13424" y="26771"/>
                </a:cubicBezTo>
                <a:cubicBezTo>
                  <a:pt x="20822" y="26771"/>
                  <a:pt x="26871" y="20847"/>
                  <a:pt x="26871" y="13448"/>
                </a:cubicBezTo>
                <a:cubicBezTo>
                  <a:pt x="26871" y="6050"/>
                  <a:pt x="20822" y="1"/>
                  <a:pt x="13424" y="1"/>
                </a:cubicBezTo>
                <a:close/>
              </a:path>
            </a:pathLst>
          </a:custGeom>
          <a:solidFill>
            <a:srgbClr val="E76F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7"/>
          <p:cNvSpPr txBox="1"/>
          <p:nvPr/>
        </p:nvSpPr>
        <p:spPr>
          <a:xfrm>
            <a:off x="4901663" y="1726682"/>
            <a:ext cx="5361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02</a:t>
            </a:r>
            <a:endParaRPr sz="2000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24" name="Google Shape;124;p27"/>
          <p:cNvSpPr/>
          <p:nvPr/>
        </p:nvSpPr>
        <p:spPr>
          <a:xfrm>
            <a:off x="550875" y="3071419"/>
            <a:ext cx="669300" cy="669275"/>
          </a:xfrm>
          <a:custGeom>
            <a:rect b="b" l="l" r="r" t="t"/>
            <a:pathLst>
              <a:path extrusionOk="0" h="26771" w="26772">
                <a:moveTo>
                  <a:pt x="13349" y="1"/>
                </a:moveTo>
                <a:cubicBezTo>
                  <a:pt x="5950" y="1"/>
                  <a:pt x="1" y="6025"/>
                  <a:pt x="1" y="13423"/>
                </a:cubicBezTo>
                <a:cubicBezTo>
                  <a:pt x="1" y="20822"/>
                  <a:pt x="5950" y="26771"/>
                  <a:pt x="13349" y="26771"/>
                </a:cubicBezTo>
                <a:cubicBezTo>
                  <a:pt x="20722" y="26771"/>
                  <a:pt x="26771" y="20822"/>
                  <a:pt x="26771" y="13423"/>
                </a:cubicBezTo>
                <a:cubicBezTo>
                  <a:pt x="26771" y="6025"/>
                  <a:pt x="20722" y="1"/>
                  <a:pt x="13349" y="1"/>
                </a:cubicBezTo>
                <a:close/>
              </a:path>
            </a:pathLst>
          </a:custGeom>
          <a:solidFill>
            <a:srgbClr val="2A9D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7"/>
          <p:cNvSpPr/>
          <p:nvPr/>
        </p:nvSpPr>
        <p:spPr>
          <a:xfrm>
            <a:off x="7921300" y="3073307"/>
            <a:ext cx="671800" cy="669275"/>
          </a:xfrm>
          <a:custGeom>
            <a:rect b="b" l="l" r="r" t="t"/>
            <a:pathLst>
              <a:path extrusionOk="0" h="26771" w="26872">
                <a:moveTo>
                  <a:pt x="13424" y="1"/>
                </a:moveTo>
                <a:cubicBezTo>
                  <a:pt x="6050" y="1"/>
                  <a:pt x="1" y="6025"/>
                  <a:pt x="1" y="13423"/>
                </a:cubicBezTo>
                <a:cubicBezTo>
                  <a:pt x="1" y="20822"/>
                  <a:pt x="6050" y="26771"/>
                  <a:pt x="13424" y="26771"/>
                </a:cubicBezTo>
                <a:cubicBezTo>
                  <a:pt x="20822" y="26771"/>
                  <a:pt x="26871" y="20822"/>
                  <a:pt x="26871" y="13423"/>
                </a:cubicBezTo>
                <a:cubicBezTo>
                  <a:pt x="26871" y="6025"/>
                  <a:pt x="20822" y="1"/>
                  <a:pt x="13424" y="1"/>
                </a:cubicBezTo>
                <a:close/>
              </a:path>
            </a:pathLst>
          </a:custGeom>
          <a:solidFill>
            <a:srgbClr val="F4A2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7"/>
          <p:cNvSpPr txBox="1"/>
          <p:nvPr/>
        </p:nvSpPr>
        <p:spPr>
          <a:xfrm>
            <a:off x="4901663" y="3206737"/>
            <a:ext cx="5361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04</a:t>
            </a:r>
            <a:endParaRPr sz="2000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27" name="Google Shape;127;p27"/>
          <p:cNvSpPr txBox="1"/>
          <p:nvPr/>
        </p:nvSpPr>
        <p:spPr>
          <a:xfrm>
            <a:off x="6084100" y="2941275"/>
            <a:ext cx="1761000" cy="26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4A26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Secured Tracking</a:t>
            </a:r>
            <a:endParaRPr sz="1700">
              <a:solidFill>
                <a:srgbClr val="F4A26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28" name="Google Shape;128;p27"/>
          <p:cNvSpPr txBox="1"/>
          <p:nvPr/>
        </p:nvSpPr>
        <p:spPr>
          <a:xfrm>
            <a:off x="6084113" y="3205325"/>
            <a:ext cx="17610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Stay ahead with real-time monitoring and secure sharing.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" name="Google Shape;129;p27"/>
          <p:cNvSpPr txBox="1"/>
          <p:nvPr/>
        </p:nvSpPr>
        <p:spPr>
          <a:xfrm>
            <a:off x="6277000" y="1469250"/>
            <a:ext cx="1568100" cy="26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E76F5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Save Time</a:t>
            </a:r>
            <a:endParaRPr sz="1700">
              <a:solidFill>
                <a:srgbClr val="E76F5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30" name="Google Shape;130;p27"/>
          <p:cNvSpPr txBox="1"/>
          <p:nvPr/>
        </p:nvSpPr>
        <p:spPr>
          <a:xfrm>
            <a:off x="6084113" y="1733263"/>
            <a:ext cx="17610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Need for a solution concept that saves us a lot of time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" name="Google Shape;131;p27"/>
          <p:cNvSpPr txBox="1"/>
          <p:nvPr/>
        </p:nvSpPr>
        <p:spPr>
          <a:xfrm>
            <a:off x="1296388" y="1733263"/>
            <a:ext cx="17610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Imagine spending hours at hospitals just to check your vitals.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" name="Google Shape;132;p27"/>
          <p:cNvSpPr txBox="1"/>
          <p:nvPr/>
        </p:nvSpPr>
        <p:spPr>
          <a:xfrm>
            <a:off x="1296388" y="1469250"/>
            <a:ext cx="1568100" cy="26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26465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Time Wasting</a:t>
            </a:r>
            <a:endParaRPr sz="1700">
              <a:solidFill>
                <a:srgbClr val="264653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33" name="Google Shape;133;p27"/>
          <p:cNvSpPr txBox="1"/>
          <p:nvPr/>
        </p:nvSpPr>
        <p:spPr>
          <a:xfrm>
            <a:off x="1296388" y="2941273"/>
            <a:ext cx="1568100" cy="26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2A9D8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Vitals To Track</a:t>
            </a:r>
            <a:endParaRPr sz="1700">
              <a:solidFill>
                <a:srgbClr val="2A9D8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34" name="Google Shape;134;p27"/>
          <p:cNvSpPr txBox="1"/>
          <p:nvPr/>
        </p:nvSpPr>
        <p:spPr>
          <a:xfrm>
            <a:off x="1296388" y="3205325"/>
            <a:ext cx="1761000" cy="6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It tracks heart rate etc. —giving you control over your health data.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" name="Google Shape;135;p27"/>
          <p:cNvSpPr txBox="1"/>
          <p:nvPr/>
        </p:nvSpPr>
        <p:spPr>
          <a:xfrm>
            <a:off x="3657763" y="1707305"/>
            <a:ext cx="5361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01</a:t>
            </a:r>
            <a:endParaRPr sz="2000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36" name="Google Shape;136;p27"/>
          <p:cNvSpPr txBox="1"/>
          <p:nvPr/>
        </p:nvSpPr>
        <p:spPr>
          <a:xfrm>
            <a:off x="3657763" y="3205700"/>
            <a:ext cx="5361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03</a:t>
            </a:r>
            <a:endParaRPr sz="2000">
              <a:solidFill>
                <a:srgbClr val="FFFFFF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pic>
        <p:nvPicPr>
          <p:cNvPr id="137" name="Google Shape;13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1776" y="2409687"/>
            <a:ext cx="431925" cy="43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4675" y="1707749"/>
            <a:ext cx="401700" cy="40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41225" y="1719961"/>
            <a:ext cx="431925" cy="43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6288" y="3208711"/>
            <a:ext cx="398475" cy="398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009375" y="3154125"/>
            <a:ext cx="454300" cy="45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8"/>
          <p:cNvSpPr txBox="1"/>
          <p:nvPr>
            <p:ph type="ctrTitle"/>
          </p:nvPr>
        </p:nvSpPr>
        <p:spPr>
          <a:xfrm>
            <a:off x="1816200" y="2410975"/>
            <a:ext cx="6001800" cy="108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5000"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rPr>
              <a:t>Problem &amp; User Need</a:t>
            </a:r>
            <a:endParaRPr b="0" sz="5000">
              <a:latin typeface="Fira Sans Condensed SemiBold"/>
              <a:ea typeface="Fira Sans Condensed SemiBold"/>
              <a:cs typeface="Fira Sans Condensed SemiBold"/>
              <a:sym typeface="Fira Sans Condensed SemiBold"/>
            </a:endParaRPr>
          </a:p>
        </p:txBody>
      </p:sp>
      <p:sp>
        <p:nvSpPr>
          <p:cNvPr id="147" name="Google Shape;147;p28"/>
          <p:cNvSpPr/>
          <p:nvPr/>
        </p:nvSpPr>
        <p:spPr>
          <a:xfrm flipH="1">
            <a:off x="5035765" y="1500952"/>
            <a:ext cx="323759" cy="946407"/>
          </a:xfrm>
          <a:custGeom>
            <a:rect b="b" l="l" r="r" t="t"/>
            <a:pathLst>
              <a:path extrusionOk="0" h="14545" w="2302">
                <a:moveTo>
                  <a:pt x="0" y="1"/>
                </a:moveTo>
                <a:lnTo>
                  <a:pt x="0" y="14545"/>
                </a:lnTo>
                <a:lnTo>
                  <a:pt x="2302" y="14545"/>
                </a:lnTo>
                <a:lnTo>
                  <a:pt x="2302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8"/>
          <p:cNvSpPr/>
          <p:nvPr/>
        </p:nvSpPr>
        <p:spPr>
          <a:xfrm flipH="1">
            <a:off x="4554988" y="1207652"/>
            <a:ext cx="323767" cy="1239700"/>
          </a:xfrm>
          <a:custGeom>
            <a:rect b="b" l="l" r="r" t="t"/>
            <a:pathLst>
              <a:path extrusionOk="0" h="15812" w="2303">
                <a:moveTo>
                  <a:pt x="1" y="0"/>
                </a:moveTo>
                <a:lnTo>
                  <a:pt x="1" y="15812"/>
                </a:lnTo>
                <a:lnTo>
                  <a:pt x="2302" y="15812"/>
                </a:lnTo>
                <a:lnTo>
                  <a:pt x="2302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8817"/>
              </a:solidFill>
            </a:endParaRPr>
          </a:p>
        </p:txBody>
      </p:sp>
      <p:sp>
        <p:nvSpPr>
          <p:cNvPr id="149" name="Google Shape;149;p28"/>
          <p:cNvSpPr/>
          <p:nvPr/>
        </p:nvSpPr>
        <p:spPr>
          <a:xfrm flipH="1">
            <a:off x="4074234" y="1849029"/>
            <a:ext cx="323767" cy="595926"/>
          </a:xfrm>
          <a:custGeom>
            <a:rect b="b" l="l" r="r" t="t"/>
            <a:pathLst>
              <a:path extrusionOk="0" h="11209" w="2303">
                <a:moveTo>
                  <a:pt x="1" y="0"/>
                </a:moveTo>
                <a:lnTo>
                  <a:pt x="1" y="11208"/>
                </a:lnTo>
                <a:lnTo>
                  <a:pt x="2302" y="11208"/>
                </a:lnTo>
                <a:lnTo>
                  <a:pt x="230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8"/>
          <p:cNvSpPr/>
          <p:nvPr/>
        </p:nvSpPr>
        <p:spPr>
          <a:xfrm flipH="1">
            <a:off x="3593473" y="1603058"/>
            <a:ext cx="323767" cy="844228"/>
          </a:xfrm>
          <a:custGeom>
            <a:rect b="b" l="l" r="r" t="t"/>
            <a:pathLst>
              <a:path extrusionOk="0" h="14545" w="2303">
                <a:moveTo>
                  <a:pt x="0" y="1"/>
                </a:moveTo>
                <a:lnTo>
                  <a:pt x="0" y="14545"/>
                </a:lnTo>
                <a:lnTo>
                  <a:pt x="2302" y="14545"/>
                </a:lnTo>
                <a:lnTo>
                  <a:pt x="230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8"/>
          <p:cNvSpPr txBox="1"/>
          <p:nvPr>
            <p:ph type="ctrTitle"/>
          </p:nvPr>
        </p:nvSpPr>
        <p:spPr>
          <a:xfrm>
            <a:off x="1325975" y="2410975"/>
            <a:ext cx="792900" cy="108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5000">
                <a:solidFill>
                  <a:schemeClr val="accent4"/>
                </a:solidFill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rPr>
              <a:t>#2</a:t>
            </a:r>
            <a:endParaRPr b="0" sz="5000">
              <a:solidFill>
                <a:schemeClr val="accent4"/>
              </a:solidFill>
              <a:latin typeface="Fira Sans Condensed SemiBold"/>
              <a:ea typeface="Fira Sans Condensed SemiBold"/>
              <a:cs typeface="Fira Sans Condensed SemiBold"/>
              <a:sym typeface="Fira Sans Condensed Semi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9"/>
          <p:cNvSpPr/>
          <p:nvPr/>
        </p:nvSpPr>
        <p:spPr>
          <a:xfrm rot="5400000">
            <a:off x="5186275" y="1566132"/>
            <a:ext cx="684300" cy="37473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9"/>
          <p:cNvSpPr/>
          <p:nvPr/>
        </p:nvSpPr>
        <p:spPr>
          <a:xfrm rot="5400000">
            <a:off x="5186275" y="621228"/>
            <a:ext cx="684300" cy="37473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9"/>
          <p:cNvSpPr/>
          <p:nvPr/>
        </p:nvSpPr>
        <p:spPr>
          <a:xfrm rot="5400000">
            <a:off x="5186275" y="-328925"/>
            <a:ext cx="684300" cy="37473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9"/>
          <p:cNvSpPr/>
          <p:nvPr/>
        </p:nvSpPr>
        <p:spPr>
          <a:xfrm rot="5400000">
            <a:off x="5186275" y="2516285"/>
            <a:ext cx="684300" cy="37473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9"/>
          <p:cNvSpPr/>
          <p:nvPr/>
        </p:nvSpPr>
        <p:spPr>
          <a:xfrm rot="-5400000">
            <a:off x="2617175" y="1799400"/>
            <a:ext cx="684300" cy="13908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9"/>
          <p:cNvSpPr/>
          <p:nvPr/>
        </p:nvSpPr>
        <p:spPr>
          <a:xfrm rot="-5400000">
            <a:off x="2720275" y="2844113"/>
            <a:ext cx="684300" cy="11964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9"/>
          <p:cNvSpPr/>
          <p:nvPr/>
        </p:nvSpPr>
        <p:spPr>
          <a:xfrm rot="-5400000">
            <a:off x="2438275" y="3515500"/>
            <a:ext cx="684300" cy="17487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9"/>
          <p:cNvSpPr/>
          <p:nvPr/>
        </p:nvSpPr>
        <p:spPr>
          <a:xfrm rot="-5400000">
            <a:off x="2720275" y="969125"/>
            <a:ext cx="684300" cy="11697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9"/>
          <p:cNvSpPr txBox="1"/>
          <p:nvPr>
            <p:ph type="title"/>
          </p:nvPr>
        </p:nvSpPr>
        <p:spPr>
          <a:xfrm>
            <a:off x="457200" y="411450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Solving The Problem of Long Hospital Wait Times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165" name="Google Shape;165;p29"/>
          <p:cNvGrpSpPr/>
          <p:nvPr/>
        </p:nvGrpSpPr>
        <p:grpSpPr>
          <a:xfrm>
            <a:off x="-3677312" y="1662424"/>
            <a:ext cx="2038500" cy="1016598"/>
            <a:chOff x="-1032787" y="968474"/>
            <a:chExt cx="2038500" cy="1016598"/>
          </a:xfrm>
        </p:grpSpPr>
        <p:sp>
          <p:nvSpPr>
            <p:cNvPr id="166" name="Google Shape;166;p29"/>
            <p:cNvSpPr txBox="1"/>
            <p:nvPr/>
          </p:nvSpPr>
          <p:spPr>
            <a:xfrm>
              <a:off x="-1032787" y="968474"/>
              <a:ext cx="2038500" cy="3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accent5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Venus</a:t>
              </a:r>
              <a:endParaRPr sz="2000">
                <a:solidFill>
                  <a:schemeClr val="accent5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67" name="Google Shape;167;p29"/>
            <p:cNvSpPr txBox="1"/>
            <p:nvPr/>
          </p:nvSpPr>
          <p:spPr>
            <a:xfrm>
              <a:off x="-1032787" y="1314273"/>
              <a:ext cx="2038500" cy="67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Venus has a beautiful name and is the second planet from the Sun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68" name="Google Shape;168;p29"/>
          <p:cNvSpPr txBox="1"/>
          <p:nvPr/>
        </p:nvSpPr>
        <p:spPr>
          <a:xfrm flipH="1">
            <a:off x="3768975" y="1286550"/>
            <a:ext cx="3125700" cy="6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Long hospital waits for basic vitals waste time and delay care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" name="Google Shape;169;p29"/>
          <p:cNvSpPr txBox="1"/>
          <p:nvPr/>
        </p:nvSpPr>
        <p:spPr>
          <a:xfrm flipH="1">
            <a:off x="3769100" y="2215004"/>
            <a:ext cx="2471100" cy="6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Instant, personal health insights, anytime, anywhere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" name="Google Shape;170;p29"/>
          <p:cNvSpPr txBox="1"/>
          <p:nvPr/>
        </p:nvSpPr>
        <p:spPr>
          <a:xfrm flipH="1">
            <a:off x="3769250" y="3122100"/>
            <a:ext cx="2692800" cy="6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VitalitySync monitors continuously, so you ‘</a:t>
            </a:r>
            <a:r>
              <a:rPr i="1" lang="en" sz="1200">
                <a:latin typeface="Roboto"/>
                <a:ea typeface="Roboto"/>
                <a:cs typeface="Roboto"/>
                <a:sym typeface="Roboto"/>
              </a:rPr>
              <a:t>stay ahead’</a:t>
            </a:r>
            <a:endParaRPr i="1"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" name="Google Shape;171;p29"/>
          <p:cNvSpPr txBox="1"/>
          <p:nvPr/>
        </p:nvSpPr>
        <p:spPr>
          <a:xfrm flipH="1">
            <a:off x="3769250" y="4096800"/>
            <a:ext cx="3264300" cy="6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Share your health history instantly with health providers (as &amp; when and freely)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" name="Google Shape;172;p29"/>
          <p:cNvSpPr txBox="1"/>
          <p:nvPr/>
        </p:nvSpPr>
        <p:spPr>
          <a:xfrm>
            <a:off x="1783225" y="4202950"/>
            <a:ext cx="17199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Personal Health Data On-hand</a:t>
            </a:r>
            <a:endParaRPr b="1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3" name="Google Shape;173;p29"/>
          <p:cNvSpPr txBox="1"/>
          <p:nvPr/>
        </p:nvSpPr>
        <p:spPr>
          <a:xfrm>
            <a:off x="2333425" y="2324013"/>
            <a:ext cx="11697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User Need</a:t>
            </a:r>
            <a:endParaRPr b="1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4" name="Google Shape;174;p29"/>
          <p:cNvSpPr txBox="1"/>
          <p:nvPr/>
        </p:nvSpPr>
        <p:spPr>
          <a:xfrm>
            <a:off x="2574625" y="3247325"/>
            <a:ext cx="9285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Solution Concept</a:t>
            </a:r>
            <a:endParaRPr b="1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5" name="Google Shape;175;p29"/>
          <p:cNvSpPr txBox="1"/>
          <p:nvPr/>
        </p:nvSpPr>
        <p:spPr>
          <a:xfrm>
            <a:off x="2574625" y="1379325"/>
            <a:ext cx="9285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Problem</a:t>
            </a:r>
            <a:endParaRPr b="1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0"/>
          <p:cNvSpPr txBox="1"/>
          <p:nvPr>
            <p:ph type="ctrTitle"/>
          </p:nvPr>
        </p:nvSpPr>
        <p:spPr>
          <a:xfrm>
            <a:off x="3059663" y="2396450"/>
            <a:ext cx="3751800" cy="108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5000"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rPr>
              <a:t>How It Works</a:t>
            </a:r>
            <a:endParaRPr b="0" sz="5000">
              <a:latin typeface="Fira Sans Condensed SemiBold"/>
              <a:ea typeface="Fira Sans Condensed SemiBold"/>
              <a:cs typeface="Fira Sans Condensed SemiBold"/>
              <a:sym typeface="Fira Sans Condensed SemiBold"/>
            </a:endParaRPr>
          </a:p>
        </p:txBody>
      </p:sp>
      <p:sp>
        <p:nvSpPr>
          <p:cNvPr id="181" name="Google Shape;181;p30"/>
          <p:cNvSpPr txBox="1"/>
          <p:nvPr>
            <p:ph type="ctrTitle"/>
          </p:nvPr>
        </p:nvSpPr>
        <p:spPr>
          <a:xfrm>
            <a:off x="2332538" y="2396450"/>
            <a:ext cx="904200" cy="108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5000">
                <a:solidFill>
                  <a:schemeClr val="accent5"/>
                </a:solidFill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rPr>
              <a:t>#3</a:t>
            </a:r>
            <a:endParaRPr b="0" sz="5000">
              <a:solidFill>
                <a:schemeClr val="accent5"/>
              </a:solidFill>
              <a:latin typeface="Fira Sans Condensed SemiBold"/>
              <a:ea typeface="Fira Sans Condensed SemiBold"/>
              <a:cs typeface="Fira Sans Condensed SemiBold"/>
              <a:sym typeface="Fira Sans Condensed SemiBold"/>
            </a:endParaRPr>
          </a:p>
        </p:txBody>
      </p:sp>
      <p:sp>
        <p:nvSpPr>
          <p:cNvPr id="182" name="Google Shape;182;p30"/>
          <p:cNvSpPr/>
          <p:nvPr/>
        </p:nvSpPr>
        <p:spPr>
          <a:xfrm>
            <a:off x="3806164" y="1273074"/>
            <a:ext cx="622407" cy="622396"/>
          </a:xfrm>
          <a:custGeom>
            <a:rect b="b" l="l" r="r" t="t"/>
            <a:pathLst>
              <a:path extrusionOk="0" h="59990" w="59991">
                <a:moveTo>
                  <a:pt x="59990" y="0"/>
                </a:moveTo>
                <a:cubicBezTo>
                  <a:pt x="26871" y="0"/>
                  <a:pt x="1" y="26870"/>
                  <a:pt x="1" y="59989"/>
                </a:cubicBezTo>
                <a:lnTo>
                  <a:pt x="37819" y="59989"/>
                </a:lnTo>
                <a:cubicBezTo>
                  <a:pt x="37819" y="47691"/>
                  <a:pt x="47717" y="37693"/>
                  <a:pt x="59990" y="37693"/>
                </a:cubicBezTo>
                <a:lnTo>
                  <a:pt x="5999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30"/>
          <p:cNvSpPr/>
          <p:nvPr/>
        </p:nvSpPr>
        <p:spPr>
          <a:xfrm>
            <a:off x="4424584" y="1273074"/>
            <a:ext cx="622396" cy="622396"/>
          </a:xfrm>
          <a:custGeom>
            <a:rect b="b" l="l" r="r" t="t"/>
            <a:pathLst>
              <a:path extrusionOk="0" h="59990" w="59990">
                <a:moveTo>
                  <a:pt x="0" y="0"/>
                </a:moveTo>
                <a:lnTo>
                  <a:pt x="0" y="37693"/>
                </a:lnTo>
                <a:cubicBezTo>
                  <a:pt x="12298" y="37693"/>
                  <a:pt x="22196" y="47691"/>
                  <a:pt x="22196" y="59989"/>
                </a:cubicBezTo>
                <a:lnTo>
                  <a:pt x="59990" y="59989"/>
                </a:lnTo>
                <a:cubicBezTo>
                  <a:pt x="59990" y="26870"/>
                  <a:pt x="33119" y="0"/>
                  <a:pt x="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30"/>
          <p:cNvSpPr/>
          <p:nvPr/>
        </p:nvSpPr>
        <p:spPr>
          <a:xfrm>
            <a:off x="3806164" y="1891478"/>
            <a:ext cx="622407" cy="621359"/>
          </a:xfrm>
          <a:custGeom>
            <a:rect b="b" l="l" r="r" t="t"/>
            <a:pathLst>
              <a:path extrusionOk="0" h="59890" w="59991">
                <a:moveTo>
                  <a:pt x="1" y="0"/>
                </a:moveTo>
                <a:cubicBezTo>
                  <a:pt x="1" y="33019"/>
                  <a:pt x="26871" y="59889"/>
                  <a:pt x="59990" y="59889"/>
                </a:cubicBezTo>
                <a:lnTo>
                  <a:pt x="59990" y="22196"/>
                </a:lnTo>
                <a:cubicBezTo>
                  <a:pt x="47717" y="22196"/>
                  <a:pt x="37819" y="12198"/>
                  <a:pt x="3781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30"/>
          <p:cNvSpPr/>
          <p:nvPr/>
        </p:nvSpPr>
        <p:spPr>
          <a:xfrm>
            <a:off x="4424584" y="1891478"/>
            <a:ext cx="622396" cy="621359"/>
          </a:xfrm>
          <a:custGeom>
            <a:rect b="b" l="l" r="r" t="t"/>
            <a:pathLst>
              <a:path extrusionOk="0" h="59890" w="59990">
                <a:moveTo>
                  <a:pt x="22196" y="0"/>
                </a:moveTo>
                <a:cubicBezTo>
                  <a:pt x="22196" y="12198"/>
                  <a:pt x="12298" y="22196"/>
                  <a:pt x="0" y="22196"/>
                </a:cubicBezTo>
                <a:lnTo>
                  <a:pt x="0" y="59889"/>
                </a:lnTo>
                <a:cubicBezTo>
                  <a:pt x="33119" y="59889"/>
                  <a:pt x="59990" y="33019"/>
                  <a:pt x="5999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1"/>
          <p:cNvSpPr txBox="1"/>
          <p:nvPr/>
        </p:nvSpPr>
        <p:spPr>
          <a:xfrm>
            <a:off x="405675" y="4744800"/>
            <a:ext cx="14955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i="1" lang="en" sz="800">
                <a:solidFill>
                  <a:srgbClr val="264653"/>
                </a:solidFill>
                <a:latin typeface="Fira Sans"/>
                <a:ea typeface="Fira Sans"/>
                <a:cs typeface="Fira Sans"/>
                <a:sym typeface="Fira Sans"/>
              </a:rPr>
              <a:t>“Stay Ahead, Stay Healthy”</a:t>
            </a:r>
            <a:endParaRPr i="1" sz="800">
              <a:solidFill>
                <a:srgbClr val="264653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91" name="Google Shape;191;p31"/>
          <p:cNvSpPr txBox="1"/>
          <p:nvPr/>
        </p:nvSpPr>
        <p:spPr>
          <a:xfrm>
            <a:off x="-133400" y="4251550"/>
            <a:ext cx="2402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3200">
                <a:solidFill>
                  <a:srgbClr val="E76F51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Vitality</a:t>
            </a:r>
            <a:r>
              <a:rPr b="1" i="1" lang="en" sz="3200">
                <a:solidFill>
                  <a:srgbClr val="2A9D8F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Sync</a:t>
            </a:r>
            <a:endParaRPr sz="2200">
              <a:solidFill>
                <a:srgbClr val="000000"/>
              </a:solidFill>
              <a:latin typeface="Fira Sans Condensed SemiBold"/>
              <a:ea typeface="Fira Sans Condensed SemiBold"/>
              <a:cs typeface="Fira Sans Condensed SemiBold"/>
              <a:sym typeface="Fira Sans Condensed SemiBold"/>
            </a:endParaRPr>
          </a:p>
        </p:txBody>
      </p:sp>
      <p:sp>
        <p:nvSpPr>
          <p:cNvPr id="192" name="Google Shape;192;p31"/>
          <p:cNvSpPr txBox="1"/>
          <p:nvPr/>
        </p:nvSpPr>
        <p:spPr>
          <a:xfrm>
            <a:off x="432888" y="2505094"/>
            <a:ext cx="19002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8AB17D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Data Simulation</a:t>
            </a:r>
            <a:endParaRPr b="1" sz="1600">
              <a:solidFill>
                <a:srgbClr val="8AB17D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93" name="Google Shape;193;p31"/>
          <p:cNvSpPr txBox="1"/>
          <p:nvPr/>
        </p:nvSpPr>
        <p:spPr>
          <a:xfrm>
            <a:off x="432888" y="2833000"/>
            <a:ext cx="1900200" cy="75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VitalitySync simulates wearable data with Python scripts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" name="Google Shape;194;p31"/>
          <p:cNvSpPr/>
          <p:nvPr/>
        </p:nvSpPr>
        <p:spPr>
          <a:xfrm>
            <a:off x="635213" y="836628"/>
            <a:ext cx="1495500" cy="1495500"/>
          </a:xfrm>
          <a:prstGeom prst="blockArc">
            <a:avLst>
              <a:gd fmla="val 10800000" name="adj1"/>
              <a:gd fmla="val 10799131" name="adj2"/>
              <a:gd fmla="val 25044" name="adj3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31"/>
          <p:cNvSpPr/>
          <p:nvPr/>
        </p:nvSpPr>
        <p:spPr>
          <a:xfrm>
            <a:off x="635213" y="836628"/>
            <a:ext cx="1495500" cy="1495500"/>
          </a:xfrm>
          <a:prstGeom prst="blockArc">
            <a:avLst>
              <a:gd fmla="val 1742060" name="adj1"/>
              <a:gd fmla="val 10799131" name="adj2"/>
              <a:gd fmla="val 25044" name="adj3"/>
            </a:avLst>
          </a:prstGeom>
          <a:solidFill>
            <a:srgbClr val="8AB1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31"/>
          <p:cNvSpPr txBox="1"/>
          <p:nvPr/>
        </p:nvSpPr>
        <p:spPr>
          <a:xfrm>
            <a:off x="956213" y="1410870"/>
            <a:ext cx="853500" cy="3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8AB17D"/>
                </a:solidFill>
                <a:latin typeface="Fira Sans"/>
                <a:ea typeface="Fira Sans"/>
                <a:cs typeface="Fira Sans"/>
                <a:sym typeface="Fira Sans"/>
              </a:rPr>
              <a:t>1</a:t>
            </a:r>
            <a:endParaRPr b="1" sz="1800">
              <a:solidFill>
                <a:srgbClr val="8AB17D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97" name="Google Shape;197;p31"/>
          <p:cNvSpPr txBox="1"/>
          <p:nvPr/>
        </p:nvSpPr>
        <p:spPr>
          <a:xfrm>
            <a:off x="2481575" y="1824075"/>
            <a:ext cx="20385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4A26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Use of MQTT &amp; SQLite</a:t>
            </a:r>
            <a:endParaRPr b="1" sz="1600">
              <a:solidFill>
                <a:srgbClr val="F4A26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98" name="Google Shape;198;p31"/>
          <p:cNvSpPr txBox="1"/>
          <p:nvPr/>
        </p:nvSpPr>
        <p:spPr>
          <a:xfrm>
            <a:off x="2433725" y="2085825"/>
            <a:ext cx="2220300" cy="75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Data flows in real-time via MQTT (broker.hivemq.com) to a secure SQLite database.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9" name="Google Shape;199;p31"/>
          <p:cNvSpPr/>
          <p:nvPr/>
        </p:nvSpPr>
        <p:spPr>
          <a:xfrm>
            <a:off x="2796100" y="2994107"/>
            <a:ext cx="1495500" cy="1495500"/>
          </a:xfrm>
          <a:prstGeom prst="blockArc">
            <a:avLst>
              <a:gd fmla="val 10800000" name="adj1"/>
              <a:gd fmla="val 10799131" name="adj2"/>
              <a:gd fmla="val 25044" name="adj3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31"/>
          <p:cNvSpPr/>
          <p:nvPr/>
        </p:nvSpPr>
        <p:spPr>
          <a:xfrm>
            <a:off x="2796100" y="2994107"/>
            <a:ext cx="1495500" cy="1495500"/>
          </a:xfrm>
          <a:prstGeom prst="blockArc">
            <a:avLst>
              <a:gd fmla="val 16234348" name="adj1"/>
              <a:gd fmla="val 5393079" name="adj2"/>
              <a:gd fmla="val 25000" name="adj3"/>
            </a:avLst>
          </a:prstGeom>
          <a:solidFill>
            <a:srgbClr val="F4A2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31"/>
          <p:cNvSpPr txBox="1"/>
          <p:nvPr/>
        </p:nvSpPr>
        <p:spPr>
          <a:xfrm>
            <a:off x="3117100" y="3568347"/>
            <a:ext cx="853500" cy="3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4A261"/>
                </a:solidFill>
                <a:latin typeface="Fira Sans"/>
                <a:ea typeface="Fira Sans"/>
                <a:cs typeface="Fira Sans"/>
                <a:sym typeface="Fira Sans"/>
              </a:rPr>
              <a:t>2</a:t>
            </a:r>
            <a:endParaRPr b="1" sz="1800">
              <a:solidFill>
                <a:srgbClr val="F4A26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02" name="Google Shape;202;p31"/>
          <p:cNvSpPr txBox="1"/>
          <p:nvPr/>
        </p:nvSpPr>
        <p:spPr>
          <a:xfrm>
            <a:off x="4754638" y="2503144"/>
            <a:ext cx="19002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E76F5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Data Into Insights</a:t>
            </a:r>
            <a:endParaRPr b="1" sz="1600">
              <a:solidFill>
                <a:srgbClr val="E76F5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03" name="Google Shape;203;p31"/>
          <p:cNvSpPr txBox="1"/>
          <p:nvPr/>
        </p:nvSpPr>
        <p:spPr>
          <a:xfrm>
            <a:off x="4754638" y="2804975"/>
            <a:ext cx="1900200" cy="75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Gemini AI turns raw data into friendly insights, delivered via user (text) input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" name="Google Shape;204;p31"/>
          <p:cNvSpPr/>
          <p:nvPr/>
        </p:nvSpPr>
        <p:spPr>
          <a:xfrm>
            <a:off x="4956988" y="836617"/>
            <a:ext cx="1495500" cy="1495500"/>
          </a:xfrm>
          <a:prstGeom prst="blockArc">
            <a:avLst>
              <a:gd fmla="val 10800000" name="adj1"/>
              <a:gd fmla="val 10799131" name="adj2"/>
              <a:gd fmla="val 25044" name="adj3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31"/>
          <p:cNvSpPr/>
          <p:nvPr/>
        </p:nvSpPr>
        <p:spPr>
          <a:xfrm>
            <a:off x="4956988" y="836617"/>
            <a:ext cx="1495500" cy="1495500"/>
          </a:xfrm>
          <a:prstGeom prst="blockArc">
            <a:avLst>
              <a:gd fmla="val 16879561" name="adj1"/>
              <a:gd fmla="val 10799131" name="adj2"/>
              <a:gd fmla="val 25044" name="adj3"/>
            </a:avLst>
          </a:prstGeom>
          <a:solidFill>
            <a:srgbClr val="E76F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31"/>
          <p:cNvSpPr txBox="1"/>
          <p:nvPr/>
        </p:nvSpPr>
        <p:spPr>
          <a:xfrm>
            <a:off x="5277988" y="1410817"/>
            <a:ext cx="853500" cy="3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E76F51"/>
                </a:solidFill>
                <a:latin typeface="Fira Sans"/>
                <a:ea typeface="Fira Sans"/>
                <a:cs typeface="Fira Sans"/>
                <a:sym typeface="Fira Sans"/>
              </a:rPr>
              <a:t>3</a:t>
            </a:r>
            <a:endParaRPr b="1" sz="1800">
              <a:solidFill>
                <a:srgbClr val="E76F5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07" name="Google Shape;207;p31"/>
          <p:cNvSpPr txBox="1"/>
          <p:nvPr/>
        </p:nvSpPr>
        <p:spPr>
          <a:xfrm>
            <a:off x="6519175" y="1824075"/>
            <a:ext cx="24837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2A9D8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Intuitive Visualizations</a:t>
            </a:r>
            <a:endParaRPr b="1" sz="1600">
              <a:solidFill>
                <a:srgbClr val="2A9D8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08" name="Google Shape;208;p31"/>
          <p:cNvSpPr txBox="1"/>
          <p:nvPr/>
        </p:nvSpPr>
        <p:spPr>
          <a:xfrm>
            <a:off x="6810913" y="2125913"/>
            <a:ext cx="1900200" cy="75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See your health with graphs—resting vs. current comparisons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9" name="Google Shape;209;p31"/>
          <p:cNvSpPr/>
          <p:nvPr/>
        </p:nvSpPr>
        <p:spPr>
          <a:xfrm>
            <a:off x="7013263" y="2994092"/>
            <a:ext cx="1495500" cy="1495500"/>
          </a:xfrm>
          <a:prstGeom prst="blockArc">
            <a:avLst>
              <a:gd fmla="val 10800000" name="adj1"/>
              <a:gd fmla="val 10799131" name="adj2"/>
              <a:gd fmla="val 25044" name="adj3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31"/>
          <p:cNvSpPr/>
          <p:nvPr/>
        </p:nvSpPr>
        <p:spPr>
          <a:xfrm>
            <a:off x="7013263" y="2994092"/>
            <a:ext cx="1495500" cy="1495500"/>
          </a:xfrm>
          <a:prstGeom prst="blockArc">
            <a:avLst>
              <a:gd fmla="val 14373116" name="adj1"/>
              <a:gd fmla="val 10799131" name="adj2"/>
              <a:gd fmla="val 25044" name="adj3"/>
            </a:avLst>
          </a:prstGeom>
          <a:solidFill>
            <a:srgbClr val="2A9D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31"/>
          <p:cNvSpPr txBox="1"/>
          <p:nvPr/>
        </p:nvSpPr>
        <p:spPr>
          <a:xfrm>
            <a:off x="7334263" y="3568292"/>
            <a:ext cx="853500" cy="3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2A9D8F"/>
                </a:solidFill>
                <a:latin typeface="Fira Sans"/>
                <a:ea typeface="Fira Sans"/>
                <a:cs typeface="Fira Sans"/>
                <a:sym typeface="Fira Sans"/>
              </a:rPr>
              <a:t>4</a:t>
            </a:r>
            <a:endParaRPr b="1" sz="1800">
              <a:solidFill>
                <a:srgbClr val="2A9D8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2" name="Google Shape;212;p31"/>
          <p:cNvSpPr txBox="1"/>
          <p:nvPr>
            <p:ph idx="4294967295" type="title"/>
          </p:nvPr>
        </p:nvSpPr>
        <p:spPr>
          <a:xfrm>
            <a:off x="457200" y="2298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781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Taking Charge of Your Health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2"/>
          <p:cNvSpPr txBox="1"/>
          <p:nvPr>
            <p:ph type="ctrTitle"/>
          </p:nvPr>
        </p:nvSpPr>
        <p:spPr>
          <a:xfrm>
            <a:off x="3323950" y="2372225"/>
            <a:ext cx="3219600" cy="108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5000"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rPr>
              <a:t>Flowcharts</a:t>
            </a:r>
            <a:endParaRPr b="0" sz="5000">
              <a:latin typeface="Fira Sans Condensed SemiBold"/>
              <a:ea typeface="Fira Sans Condensed SemiBold"/>
              <a:cs typeface="Fira Sans Condensed SemiBold"/>
              <a:sym typeface="Fira Sans Condensed SemiBold"/>
            </a:endParaRPr>
          </a:p>
        </p:txBody>
      </p:sp>
      <p:sp>
        <p:nvSpPr>
          <p:cNvPr id="218" name="Google Shape;218;p32"/>
          <p:cNvSpPr/>
          <p:nvPr/>
        </p:nvSpPr>
        <p:spPr>
          <a:xfrm flipH="1">
            <a:off x="5035765" y="1500952"/>
            <a:ext cx="323759" cy="946407"/>
          </a:xfrm>
          <a:custGeom>
            <a:rect b="b" l="l" r="r" t="t"/>
            <a:pathLst>
              <a:path extrusionOk="0" h="14545" w="2302">
                <a:moveTo>
                  <a:pt x="0" y="1"/>
                </a:moveTo>
                <a:lnTo>
                  <a:pt x="0" y="14545"/>
                </a:lnTo>
                <a:lnTo>
                  <a:pt x="2302" y="14545"/>
                </a:lnTo>
                <a:lnTo>
                  <a:pt x="2302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32"/>
          <p:cNvSpPr/>
          <p:nvPr/>
        </p:nvSpPr>
        <p:spPr>
          <a:xfrm flipH="1">
            <a:off x="4554988" y="1207652"/>
            <a:ext cx="323767" cy="1239700"/>
          </a:xfrm>
          <a:custGeom>
            <a:rect b="b" l="l" r="r" t="t"/>
            <a:pathLst>
              <a:path extrusionOk="0" h="15812" w="2303">
                <a:moveTo>
                  <a:pt x="1" y="0"/>
                </a:moveTo>
                <a:lnTo>
                  <a:pt x="1" y="15812"/>
                </a:lnTo>
                <a:lnTo>
                  <a:pt x="2302" y="15812"/>
                </a:lnTo>
                <a:lnTo>
                  <a:pt x="2302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8817"/>
              </a:solidFill>
            </a:endParaRPr>
          </a:p>
        </p:txBody>
      </p:sp>
      <p:sp>
        <p:nvSpPr>
          <p:cNvPr id="220" name="Google Shape;220;p32"/>
          <p:cNvSpPr/>
          <p:nvPr/>
        </p:nvSpPr>
        <p:spPr>
          <a:xfrm flipH="1">
            <a:off x="4074234" y="1849029"/>
            <a:ext cx="323767" cy="595926"/>
          </a:xfrm>
          <a:custGeom>
            <a:rect b="b" l="l" r="r" t="t"/>
            <a:pathLst>
              <a:path extrusionOk="0" h="11209" w="2303">
                <a:moveTo>
                  <a:pt x="1" y="0"/>
                </a:moveTo>
                <a:lnTo>
                  <a:pt x="1" y="11208"/>
                </a:lnTo>
                <a:lnTo>
                  <a:pt x="2302" y="11208"/>
                </a:lnTo>
                <a:lnTo>
                  <a:pt x="230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32"/>
          <p:cNvSpPr/>
          <p:nvPr/>
        </p:nvSpPr>
        <p:spPr>
          <a:xfrm flipH="1">
            <a:off x="3593473" y="1603058"/>
            <a:ext cx="323767" cy="844228"/>
          </a:xfrm>
          <a:custGeom>
            <a:rect b="b" l="l" r="r" t="t"/>
            <a:pathLst>
              <a:path extrusionOk="0" h="14545" w="2303">
                <a:moveTo>
                  <a:pt x="0" y="1"/>
                </a:moveTo>
                <a:lnTo>
                  <a:pt x="0" y="14545"/>
                </a:lnTo>
                <a:lnTo>
                  <a:pt x="2302" y="14545"/>
                </a:lnTo>
                <a:lnTo>
                  <a:pt x="230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32"/>
          <p:cNvSpPr txBox="1"/>
          <p:nvPr>
            <p:ph type="ctrTitle"/>
          </p:nvPr>
        </p:nvSpPr>
        <p:spPr>
          <a:xfrm>
            <a:off x="2600453" y="2372225"/>
            <a:ext cx="953400" cy="108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5000">
                <a:solidFill>
                  <a:schemeClr val="accent2"/>
                </a:solidFill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rPr>
              <a:t>#4</a:t>
            </a:r>
            <a:endParaRPr b="0" sz="5000">
              <a:solidFill>
                <a:schemeClr val="accent2"/>
              </a:solidFill>
              <a:latin typeface="Fira Sans Condensed SemiBold"/>
              <a:ea typeface="Fira Sans Condensed SemiBold"/>
              <a:cs typeface="Fira Sans Condensed SemiBold"/>
              <a:sym typeface="Fira Sans Condensed Semi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3"/>
          <p:cNvSpPr/>
          <p:nvPr/>
        </p:nvSpPr>
        <p:spPr>
          <a:xfrm>
            <a:off x="3918938" y="851150"/>
            <a:ext cx="846600" cy="78300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Start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8" name="Google Shape;228;p33"/>
          <p:cNvSpPr/>
          <p:nvPr/>
        </p:nvSpPr>
        <p:spPr>
          <a:xfrm>
            <a:off x="1577663" y="2345000"/>
            <a:ext cx="1241100" cy="85380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User gets/purchases device (with RasPi integration)</a:t>
            </a:r>
            <a:endParaRPr b="1" sz="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9" name="Google Shape;229;p33"/>
          <p:cNvSpPr/>
          <p:nvPr/>
        </p:nvSpPr>
        <p:spPr>
          <a:xfrm>
            <a:off x="3220353" y="2345000"/>
            <a:ext cx="1241100" cy="85380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Initial setup</a:t>
            </a:r>
            <a:endParaRPr b="1" sz="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0" name="Google Shape;230;p33"/>
          <p:cNvSpPr/>
          <p:nvPr/>
        </p:nvSpPr>
        <p:spPr>
          <a:xfrm>
            <a:off x="3220352" y="3716626"/>
            <a:ext cx="1241100" cy="85380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Display “Setup Complete” message</a:t>
            </a:r>
            <a:endParaRPr b="1" sz="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1" name="Google Shape;231;p33"/>
          <p:cNvSpPr/>
          <p:nvPr/>
        </p:nvSpPr>
        <p:spPr>
          <a:xfrm>
            <a:off x="4863044" y="2345000"/>
            <a:ext cx="1241100" cy="85380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Generate Resting Values (via publisher originally generate_health values)</a:t>
            </a:r>
            <a:endParaRPr b="1" sz="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2" name="Google Shape;232;p33"/>
          <p:cNvSpPr/>
          <p:nvPr/>
        </p:nvSpPr>
        <p:spPr>
          <a:xfrm>
            <a:off x="6563355" y="2345000"/>
            <a:ext cx="1241100" cy="85380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Store in SQLite (health_data.db: resting_values table)</a:t>
            </a:r>
            <a:endParaRPr b="1" sz="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3" name="Google Shape;233;p33"/>
          <p:cNvCxnSpPr>
            <a:stCxn id="227" idx="2"/>
            <a:endCxn id="228" idx="1"/>
          </p:cNvCxnSpPr>
          <p:nvPr/>
        </p:nvCxnSpPr>
        <p:spPr>
          <a:xfrm flipH="1">
            <a:off x="1577738" y="1242650"/>
            <a:ext cx="2341200" cy="1529400"/>
          </a:xfrm>
          <a:prstGeom prst="bentConnector3">
            <a:avLst>
              <a:gd fmla="val 110174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4" name="Google Shape;234;p33"/>
          <p:cNvCxnSpPr>
            <a:stCxn id="228" idx="3"/>
            <a:endCxn id="229" idx="1"/>
          </p:cNvCxnSpPr>
          <p:nvPr/>
        </p:nvCxnSpPr>
        <p:spPr>
          <a:xfrm>
            <a:off x="2818763" y="2771900"/>
            <a:ext cx="401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5" name="Google Shape;235;p33"/>
          <p:cNvCxnSpPr>
            <a:stCxn id="229" idx="3"/>
            <a:endCxn id="231" idx="1"/>
          </p:cNvCxnSpPr>
          <p:nvPr/>
        </p:nvCxnSpPr>
        <p:spPr>
          <a:xfrm>
            <a:off x="4461453" y="2771900"/>
            <a:ext cx="401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6" name="Google Shape;236;p33"/>
          <p:cNvCxnSpPr>
            <a:stCxn id="231" idx="3"/>
            <a:endCxn id="232" idx="1"/>
          </p:cNvCxnSpPr>
          <p:nvPr/>
        </p:nvCxnSpPr>
        <p:spPr>
          <a:xfrm>
            <a:off x="6104144" y="2771900"/>
            <a:ext cx="459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7" name="Google Shape;237;p33"/>
          <p:cNvCxnSpPr>
            <a:stCxn id="229" idx="2"/>
            <a:endCxn id="230" idx="0"/>
          </p:cNvCxnSpPr>
          <p:nvPr/>
        </p:nvCxnSpPr>
        <p:spPr>
          <a:xfrm>
            <a:off x="3840903" y="3198800"/>
            <a:ext cx="0" cy="517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8" name="Google Shape;238;p33"/>
          <p:cNvCxnSpPr>
            <a:stCxn id="227" idx="6"/>
            <a:endCxn id="232" idx="3"/>
          </p:cNvCxnSpPr>
          <p:nvPr/>
        </p:nvCxnSpPr>
        <p:spPr>
          <a:xfrm>
            <a:off x="4765538" y="1242650"/>
            <a:ext cx="3039000" cy="1529400"/>
          </a:xfrm>
          <a:prstGeom prst="bentConnector3">
            <a:avLst>
              <a:gd fmla="val 107833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9" name="Google Shape;239;p33"/>
          <p:cNvCxnSpPr/>
          <p:nvPr/>
        </p:nvCxnSpPr>
        <p:spPr>
          <a:xfrm>
            <a:off x="8042578" y="1242650"/>
            <a:ext cx="1102800" cy="2400"/>
          </a:xfrm>
          <a:prstGeom prst="straightConnector1">
            <a:avLst/>
          </a:prstGeom>
          <a:noFill/>
          <a:ln cap="flat" cmpd="sng" w="19050">
            <a:solidFill>
              <a:srgbClr val="2A9D8F"/>
            </a:solidFill>
            <a:prstDash val="dash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4"/>
          <p:cNvSpPr/>
          <p:nvPr/>
        </p:nvSpPr>
        <p:spPr>
          <a:xfrm>
            <a:off x="1189050" y="1043075"/>
            <a:ext cx="6765900" cy="3716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" name="Google Shape;245;p34"/>
          <p:cNvSpPr/>
          <p:nvPr/>
        </p:nvSpPr>
        <p:spPr>
          <a:xfrm>
            <a:off x="1756575" y="1660700"/>
            <a:ext cx="1640700" cy="51270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generate_healthvalues.py (publisher) runs</a:t>
            </a:r>
            <a:endParaRPr b="1" sz="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" name="Google Shape;246;p34"/>
          <p:cNvSpPr/>
          <p:nvPr/>
        </p:nvSpPr>
        <p:spPr>
          <a:xfrm>
            <a:off x="5627025" y="1660700"/>
            <a:ext cx="1749000" cy="5127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Generate Current Health Data (Heart_Rate, SpO2, etc.)</a:t>
            </a:r>
            <a:endParaRPr b="1" sz="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" name="Google Shape;247;p34"/>
          <p:cNvSpPr/>
          <p:nvPr/>
        </p:nvSpPr>
        <p:spPr>
          <a:xfrm>
            <a:off x="1722675" y="4025225"/>
            <a:ext cx="1708500" cy="51270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Continuous Loop (Every 1s)</a:t>
            </a:r>
            <a:endParaRPr b="1" sz="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8" name="Google Shape;248;p34"/>
          <p:cNvSpPr/>
          <p:nvPr/>
        </p:nvSpPr>
        <p:spPr>
          <a:xfrm>
            <a:off x="5647275" y="2478350"/>
            <a:ext cx="1708500" cy="5127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Store in SQLite (current_values table: timestamp, context)</a:t>
            </a:r>
            <a:endParaRPr b="1" sz="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" name="Google Shape;249;p34"/>
          <p:cNvSpPr/>
          <p:nvPr/>
        </p:nvSpPr>
        <p:spPr>
          <a:xfrm>
            <a:off x="5647275" y="3296000"/>
            <a:ext cx="1708500" cy="5127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Publish to MQTT Topic (health_sensor/data via broker.hivemq.com)</a:t>
            </a:r>
            <a:endParaRPr b="1" sz="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0" name="Google Shape;250;p34"/>
          <p:cNvCxnSpPr>
            <a:stCxn id="245" idx="3"/>
            <a:endCxn id="246" idx="1"/>
          </p:cNvCxnSpPr>
          <p:nvPr/>
        </p:nvCxnSpPr>
        <p:spPr>
          <a:xfrm>
            <a:off x="3397275" y="1917050"/>
            <a:ext cx="2229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1" name="Google Shape;251;p34"/>
          <p:cNvCxnSpPr>
            <a:stCxn id="245" idx="2"/>
            <a:endCxn id="247" idx="0"/>
          </p:cNvCxnSpPr>
          <p:nvPr/>
        </p:nvCxnSpPr>
        <p:spPr>
          <a:xfrm>
            <a:off x="2576925" y="2173400"/>
            <a:ext cx="0" cy="1851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2" name="Google Shape;252;p34"/>
          <p:cNvCxnSpPr>
            <a:stCxn id="246" idx="2"/>
            <a:endCxn id="248" idx="0"/>
          </p:cNvCxnSpPr>
          <p:nvPr/>
        </p:nvCxnSpPr>
        <p:spPr>
          <a:xfrm>
            <a:off x="6501525" y="2173400"/>
            <a:ext cx="0" cy="305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3" name="Google Shape;253;p34"/>
          <p:cNvCxnSpPr>
            <a:stCxn id="248" idx="2"/>
            <a:endCxn id="249" idx="0"/>
          </p:cNvCxnSpPr>
          <p:nvPr/>
        </p:nvCxnSpPr>
        <p:spPr>
          <a:xfrm>
            <a:off x="6501525" y="2991050"/>
            <a:ext cx="0" cy="305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4" name="Google Shape;254;p34"/>
          <p:cNvSpPr/>
          <p:nvPr/>
        </p:nvSpPr>
        <p:spPr>
          <a:xfrm>
            <a:off x="3195550" y="435725"/>
            <a:ext cx="2608200" cy="1053900"/>
          </a:xfrm>
          <a:prstGeom prst="wave">
            <a:avLst>
              <a:gd fmla="val 12500" name="adj1"/>
              <a:gd fmla="val 0" name="adj2"/>
            </a:avLst>
          </a:prstGeom>
          <a:solidFill>
            <a:srgbClr val="2A9D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Background Monitoring</a:t>
            </a:r>
            <a:endParaRPr b="1"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5" name="Google Shape;255;p34"/>
          <p:cNvCxnSpPr/>
          <p:nvPr/>
        </p:nvCxnSpPr>
        <p:spPr>
          <a:xfrm>
            <a:off x="3" y="1242650"/>
            <a:ext cx="817200" cy="0"/>
          </a:xfrm>
          <a:prstGeom prst="straightConnector1">
            <a:avLst/>
          </a:prstGeom>
          <a:noFill/>
          <a:ln cap="flat" cmpd="sng" w="19050">
            <a:solidFill>
              <a:srgbClr val="2A9D8F"/>
            </a:solidFill>
            <a:prstDash val="dashDot"/>
            <a:round/>
            <a:headEnd len="med" w="med" type="none"/>
            <a:tailEnd len="med" w="med" type="none"/>
          </a:ln>
        </p:spPr>
      </p:cxnSp>
      <p:cxnSp>
        <p:nvCxnSpPr>
          <p:cNvPr id="256" name="Google Shape;256;p34"/>
          <p:cNvCxnSpPr/>
          <p:nvPr/>
        </p:nvCxnSpPr>
        <p:spPr>
          <a:xfrm>
            <a:off x="785600" y="1239775"/>
            <a:ext cx="0" cy="689400"/>
          </a:xfrm>
          <a:prstGeom prst="straightConnector1">
            <a:avLst/>
          </a:prstGeom>
          <a:noFill/>
          <a:ln cap="flat" cmpd="sng" w="19050">
            <a:solidFill>
              <a:srgbClr val="2A9D8F"/>
            </a:solidFill>
            <a:prstDash val="dashDot"/>
            <a:round/>
            <a:headEnd len="med" w="med" type="none"/>
            <a:tailEnd len="med" w="med" type="none"/>
          </a:ln>
        </p:spPr>
      </p:cxnSp>
      <p:cxnSp>
        <p:nvCxnSpPr>
          <p:cNvPr id="257" name="Google Shape;257;p34"/>
          <p:cNvCxnSpPr>
            <a:endCxn id="245" idx="1"/>
          </p:cNvCxnSpPr>
          <p:nvPr/>
        </p:nvCxnSpPr>
        <p:spPr>
          <a:xfrm>
            <a:off x="785475" y="1917050"/>
            <a:ext cx="971100" cy="0"/>
          </a:xfrm>
          <a:prstGeom prst="straightConnector1">
            <a:avLst/>
          </a:prstGeom>
          <a:noFill/>
          <a:ln cap="flat" cmpd="sng" w="19050">
            <a:solidFill>
              <a:srgbClr val="2A9D8F"/>
            </a:solidFill>
            <a:prstDash val="dashDot"/>
            <a:round/>
            <a:headEnd len="med" w="med" type="none"/>
            <a:tailEnd len="med" w="med" type="triangle"/>
          </a:ln>
        </p:spPr>
      </p:cxnSp>
      <p:cxnSp>
        <p:nvCxnSpPr>
          <p:cNvPr id="258" name="Google Shape;258;p34"/>
          <p:cNvCxnSpPr/>
          <p:nvPr/>
        </p:nvCxnSpPr>
        <p:spPr>
          <a:xfrm>
            <a:off x="6501650" y="3781325"/>
            <a:ext cx="0" cy="689400"/>
          </a:xfrm>
          <a:prstGeom prst="straightConnector1">
            <a:avLst/>
          </a:prstGeom>
          <a:noFill/>
          <a:ln cap="flat" cmpd="sng" w="19050">
            <a:solidFill>
              <a:srgbClr val="2A9D8F"/>
            </a:solidFill>
            <a:prstDash val="dashDot"/>
            <a:round/>
            <a:headEnd len="med" w="med" type="none"/>
            <a:tailEnd len="med" w="med" type="none"/>
          </a:ln>
        </p:spPr>
      </p:cxnSp>
      <p:cxnSp>
        <p:nvCxnSpPr>
          <p:cNvPr id="259" name="Google Shape;259;p34"/>
          <p:cNvCxnSpPr/>
          <p:nvPr/>
        </p:nvCxnSpPr>
        <p:spPr>
          <a:xfrm>
            <a:off x="6501525" y="4458600"/>
            <a:ext cx="2703900" cy="0"/>
          </a:xfrm>
          <a:prstGeom prst="straightConnector1">
            <a:avLst/>
          </a:prstGeom>
          <a:noFill/>
          <a:ln cap="flat" cmpd="sng" w="19050">
            <a:solidFill>
              <a:srgbClr val="2A9D8F"/>
            </a:solidFill>
            <a:prstDash val="dash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5"/>
          <p:cNvSpPr/>
          <p:nvPr/>
        </p:nvSpPr>
        <p:spPr>
          <a:xfrm>
            <a:off x="364300" y="509950"/>
            <a:ext cx="8641500" cy="44751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5" name="Google Shape;265;p35"/>
          <p:cNvSpPr/>
          <p:nvPr/>
        </p:nvSpPr>
        <p:spPr>
          <a:xfrm>
            <a:off x="2911425" y="313425"/>
            <a:ext cx="1806900" cy="392100"/>
          </a:xfrm>
          <a:prstGeom prst="wave">
            <a:avLst>
              <a:gd fmla="val 12500" name="adj1"/>
              <a:gd fmla="val 0" name="adj2"/>
            </a:avLst>
          </a:prstGeom>
          <a:solidFill>
            <a:srgbClr val="47AFA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User Interaction</a:t>
            </a:r>
            <a:endParaRPr b="1"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6" name="Google Shape;266;p35"/>
          <p:cNvSpPr/>
          <p:nvPr/>
        </p:nvSpPr>
        <p:spPr>
          <a:xfrm>
            <a:off x="543375" y="776625"/>
            <a:ext cx="914700" cy="39210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User Presses Ctrl+C in gain_healthinsightswithllm.py(subscriber) Terminal</a:t>
            </a:r>
            <a:endParaRPr b="1" sz="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" name="Google Shape;267;p35"/>
          <p:cNvSpPr/>
          <p:nvPr/>
        </p:nvSpPr>
        <p:spPr>
          <a:xfrm>
            <a:off x="5106394" y="716130"/>
            <a:ext cx="751500" cy="39210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User Input</a:t>
            </a:r>
            <a:endParaRPr b="1" sz="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8" name="Google Shape;268;p35"/>
          <p:cNvSpPr/>
          <p:nvPr/>
        </p:nvSpPr>
        <p:spPr>
          <a:xfrm>
            <a:off x="1702275" y="776625"/>
            <a:ext cx="751500" cy="3921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subscriber.py Stops Listening</a:t>
            </a:r>
            <a:endParaRPr b="1" sz="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9" name="Google Shape;269;p35"/>
          <p:cNvSpPr/>
          <p:nvPr/>
        </p:nvSpPr>
        <p:spPr>
          <a:xfrm>
            <a:off x="1715139" y="1428517"/>
            <a:ext cx="751500" cy="3921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Fetch Data</a:t>
            </a:r>
            <a:endParaRPr b="1" sz="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0" name="Google Shape;270;p35"/>
          <p:cNvSpPr/>
          <p:nvPr/>
        </p:nvSpPr>
        <p:spPr>
          <a:xfrm>
            <a:off x="2711714" y="1428533"/>
            <a:ext cx="751500" cy="392100"/>
          </a:xfrm>
          <a:prstGeom prst="rect">
            <a:avLst/>
          </a:prstGeom>
          <a:solidFill>
            <a:srgbClr val="26465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Resting Values from SQLite</a:t>
            </a:r>
            <a:endParaRPr b="1" sz="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1" name="Google Shape;271;p35"/>
          <p:cNvSpPr/>
          <p:nvPr/>
        </p:nvSpPr>
        <p:spPr>
          <a:xfrm>
            <a:off x="2711714" y="1986078"/>
            <a:ext cx="751500" cy="392100"/>
          </a:xfrm>
          <a:prstGeom prst="rect">
            <a:avLst/>
          </a:prstGeom>
          <a:solidFill>
            <a:srgbClr val="26465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Latest Current Values from SQLite</a:t>
            </a:r>
            <a:endParaRPr b="1" sz="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2" name="Google Shape;272;p35"/>
          <p:cNvSpPr/>
          <p:nvPr/>
        </p:nvSpPr>
        <p:spPr>
          <a:xfrm>
            <a:off x="1715139" y="2571325"/>
            <a:ext cx="751500" cy="3921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Display Options</a:t>
            </a:r>
            <a:endParaRPr b="1" sz="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3" name="Google Shape;273;p35"/>
          <p:cNvSpPr/>
          <p:nvPr/>
        </p:nvSpPr>
        <p:spPr>
          <a:xfrm>
            <a:off x="2711714" y="2571324"/>
            <a:ext cx="751500" cy="392100"/>
          </a:xfrm>
          <a:prstGeom prst="rect">
            <a:avLst/>
          </a:prstGeom>
          <a:solidFill>
            <a:srgbClr val="26465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Metrics: Heart_Rate, SpO2, Blood_Glucose, Body_Temperature</a:t>
            </a:r>
            <a:endParaRPr b="1" sz="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(or 'all')</a:t>
            </a:r>
            <a:endParaRPr b="1" sz="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4" name="Google Shape;274;p35"/>
          <p:cNvSpPr/>
          <p:nvPr/>
        </p:nvSpPr>
        <p:spPr>
          <a:xfrm>
            <a:off x="2711714" y="3220470"/>
            <a:ext cx="751500" cy="392100"/>
          </a:xfrm>
          <a:prstGeom prst="rect">
            <a:avLst/>
          </a:prstGeom>
          <a:solidFill>
            <a:srgbClr val="26465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Contexts: resting, running, walking, exercising</a:t>
            </a:r>
            <a:endParaRPr b="1" sz="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5" name="Google Shape;275;p35"/>
          <p:cNvSpPr/>
          <p:nvPr/>
        </p:nvSpPr>
        <p:spPr>
          <a:xfrm>
            <a:off x="1682150" y="3786925"/>
            <a:ext cx="817500" cy="667200"/>
          </a:xfrm>
          <a:prstGeom prst="diamond">
            <a:avLst/>
          </a:prstGeom>
          <a:solidFill>
            <a:srgbClr val="F4A2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Prompt User: "Tell me about my health! or exit"</a:t>
            </a:r>
            <a:endParaRPr b="1" sz="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6" name="Google Shape;276;p35"/>
          <p:cNvSpPr/>
          <p:nvPr/>
        </p:nvSpPr>
        <p:spPr>
          <a:xfrm>
            <a:off x="6090575" y="716125"/>
            <a:ext cx="751500" cy="392100"/>
          </a:xfrm>
          <a:prstGeom prst="diamond">
            <a:avLst/>
          </a:prstGeom>
          <a:solidFill>
            <a:srgbClr val="F4A2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"exit"</a:t>
            </a:r>
            <a:endParaRPr b="1" sz="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" name="Google Shape;277;p35"/>
          <p:cNvSpPr/>
          <p:nvPr/>
        </p:nvSpPr>
        <p:spPr>
          <a:xfrm>
            <a:off x="6090575" y="1300302"/>
            <a:ext cx="751500" cy="465600"/>
          </a:xfrm>
          <a:prstGeom prst="diamond">
            <a:avLst/>
          </a:prstGeom>
          <a:solidFill>
            <a:srgbClr val="F4A2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"Tell me about my health!"</a:t>
            </a:r>
            <a:endParaRPr b="1" sz="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8" name="Google Shape;278;p35"/>
          <p:cNvSpPr/>
          <p:nvPr/>
        </p:nvSpPr>
        <p:spPr>
          <a:xfrm>
            <a:off x="7220678" y="722425"/>
            <a:ext cx="586800" cy="379500"/>
          </a:xfrm>
          <a:prstGeom prst="rect">
            <a:avLst/>
          </a:prstGeom>
          <a:solidFill>
            <a:srgbClr val="26465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Display "Signing off with love! 💖 Take care! 🌟</a:t>
            </a:r>
            <a:endParaRPr b="1" sz="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9" name="Google Shape;279;p35"/>
          <p:cNvSpPr/>
          <p:nvPr/>
        </p:nvSpPr>
        <p:spPr>
          <a:xfrm>
            <a:off x="8204850" y="716125"/>
            <a:ext cx="516000" cy="392100"/>
          </a:xfrm>
          <a:prstGeom prst="ellipse">
            <a:avLst/>
          </a:prstGeom>
          <a:solidFill>
            <a:srgbClr val="98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End</a:t>
            </a:r>
            <a:endParaRPr b="1" sz="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0" name="Google Shape;280;p35"/>
          <p:cNvSpPr/>
          <p:nvPr/>
        </p:nvSpPr>
        <p:spPr>
          <a:xfrm>
            <a:off x="7289655" y="1343361"/>
            <a:ext cx="586800" cy="379500"/>
          </a:xfrm>
          <a:prstGeom prst="rect">
            <a:avLst/>
          </a:prstGeom>
          <a:solidFill>
            <a:srgbClr val="26465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Input Metrics (e.g., "Heart_Rate, SpO2" or "all")</a:t>
            </a:r>
            <a:endParaRPr b="1" sz="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1" name="Google Shape;281;p35"/>
          <p:cNvSpPr/>
          <p:nvPr/>
        </p:nvSpPr>
        <p:spPr>
          <a:xfrm>
            <a:off x="7289646" y="1893240"/>
            <a:ext cx="586800" cy="379500"/>
          </a:xfrm>
          <a:prstGeom prst="rect">
            <a:avLst/>
          </a:prstGeom>
          <a:solidFill>
            <a:srgbClr val="26465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Input Context (e.g., "running")</a:t>
            </a:r>
            <a:endParaRPr b="1" sz="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2" name="Google Shape;282;p35"/>
          <p:cNvSpPr/>
          <p:nvPr/>
        </p:nvSpPr>
        <p:spPr>
          <a:xfrm>
            <a:off x="7289646" y="2463453"/>
            <a:ext cx="586800" cy="379500"/>
          </a:xfrm>
          <a:prstGeom prst="rect">
            <a:avLst/>
          </a:prstGeom>
          <a:solidFill>
            <a:srgbClr val="26465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Validate Inputs</a:t>
            </a:r>
            <a:endParaRPr b="1" sz="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3" name="Google Shape;283;p35"/>
          <p:cNvSpPr/>
          <p:nvPr/>
        </p:nvSpPr>
        <p:spPr>
          <a:xfrm>
            <a:off x="8190670" y="2408800"/>
            <a:ext cx="684600" cy="2037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Metrics in Available List? → If No, Error</a:t>
            </a:r>
            <a:endParaRPr b="1" sz="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4" name="Google Shape;284;p35"/>
          <p:cNvSpPr/>
          <p:nvPr/>
        </p:nvSpPr>
        <p:spPr>
          <a:xfrm>
            <a:off x="8190825" y="2693900"/>
            <a:ext cx="684600" cy="2037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Context in Possible List? → If No, Error</a:t>
            </a:r>
            <a:endParaRPr b="1" sz="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5" name="Google Shape;285;p35"/>
          <p:cNvSpPr/>
          <p:nvPr/>
        </p:nvSpPr>
        <p:spPr>
          <a:xfrm>
            <a:off x="7289655" y="3033678"/>
            <a:ext cx="586800" cy="379500"/>
          </a:xfrm>
          <a:prstGeom prst="rect">
            <a:avLst/>
          </a:prstGeom>
          <a:solidFill>
            <a:srgbClr val="26465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Visualize</a:t>
            </a:r>
            <a:endParaRPr b="1" sz="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6" name="Google Shape;286;p35"/>
          <p:cNvSpPr/>
          <p:nvPr/>
        </p:nvSpPr>
        <p:spPr>
          <a:xfrm>
            <a:off x="7289975" y="3554127"/>
            <a:ext cx="586800" cy="584400"/>
          </a:xfrm>
          <a:prstGeom prst="rect">
            <a:avLst/>
          </a:prstGeom>
          <a:solidFill>
            <a:srgbClr val="26465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Prepare LLM Prompt</a:t>
            </a:r>
            <a:endParaRPr b="1" sz="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7" name="Google Shape;287;p35"/>
          <p:cNvSpPr/>
          <p:nvPr/>
        </p:nvSpPr>
        <p:spPr>
          <a:xfrm>
            <a:off x="8190673" y="3547750"/>
            <a:ext cx="684600" cy="1815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Resting Values (e.g., Heart_Rate: 70)</a:t>
            </a:r>
            <a:endParaRPr b="1" sz="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8" name="Google Shape;288;p35"/>
          <p:cNvSpPr/>
          <p:nvPr/>
        </p:nvSpPr>
        <p:spPr>
          <a:xfrm>
            <a:off x="8190675" y="3758475"/>
            <a:ext cx="684600" cy="1815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400">
                <a:solidFill>
                  <a:schemeClr val="lt1"/>
                </a:solidFill>
              </a:rPr>
              <a:t>Current Values (e.g., Heart_Rate: 120)</a:t>
            </a:r>
            <a:endParaRPr b="1" sz="400">
              <a:solidFill>
                <a:schemeClr val="lt1"/>
              </a:solidFill>
            </a:endParaRPr>
          </a:p>
        </p:txBody>
      </p:sp>
      <p:sp>
        <p:nvSpPr>
          <p:cNvPr id="289" name="Google Shape;289;p35"/>
          <p:cNvSpPr/>
          <p:nvPr/>
        </p:nvSpPr>
        <p:spPr>
          <a:xfrm>
            <a:off x="8190675" y="3104263"/>
            <a:ext cx="684600" cy="2598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Plot Bar Graph </a:t>
            </a:r>
            <a:endParaRPr b="1" sz="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(Title: "Health Metrics Comparison")</a:t>
            </a:r>
            <a:endParaRPr b="1" sz="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0" name="Google Shape;290;p35"/>
          <p:cNvSpPr/>
          <p:nvPr/>
        </p:nvSpPr>
        <p:spPr>
          <a:xfrm>
            <a:off x="7289975" y="4285273"/>
            <a:ext cx="586800" cy="221400"/>
          </a:xfrm>
          <a:prstGeom prst="rect">
            <a:avLst/>
          </a:prstGeom>
          <a:solidFill>
            <a:srgbClr val="26465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Query Gemini API (Gemini)</a:t>
            </a:r>
            <a:endParaRPr b="1" sz="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1" name="Google Shape;291;p35"/>
          <p:cNvSpPr/>
          <p:nvPr/>
        </p:nvSpPr>
        <p:spPr>
          <a:xfrm>
            <a:off x="7297475" y="4626375"/>
            <a:ext cx="586800" cy="203700"/>
          </a:xfrm>
          <a:prstGeom prst="rect">
            <a:avLst/>
          </a:prstGeom>
          <a:solidFill>
            <a:srgbClr val="26465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Display Insights (Bullet Points)</a:t>
            </a:r>
            <a:endParaRPr b="1" sz="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2" name="Google Shape;292;p35"/>
          <p:cNvSpPr/>
          <p:nvPr/>
        </p:nvSpPr>
        <p:spPr>
          <a:xfrm>
            <a:off x="8190675" y="3969200"/>
            <a:ext cx="684600" cy="1815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400">
                <a:solidFill>
                  <a:schemeClr val="lt1"/>
                </a:solidFill>
              </a:rPr>
              <a:t>Context (e.g., running) </a:t>
            </a:r>
            <a:endParaRPr b="1" sz="400">
              <a:solidFill>
                <a:schemeClr val="lt1"/>
              </a:solidFill>
            </a:endParaRPr>
          </a:p>
        </p:txBody>
      </p:sp>
      <p:cxnSp>
        <p:nvCxnSpPr>
          <p:cNvPr id="293" name="Google Shape;293;p35"/>
          <p:cNvCxnSpPr>
            <a:stCxn id="275" idx="3"/>
            <a:endCxn id="267" idx="1"/>
          </p:cNvCxnSpPr>
          <p:nvPr/>
        </p:nvCxnSpPr>
        <p:spPr>
          <a:xfrm flipH="1" rot="10800000">
            <a:off x="2499650" y="912325"/>
            <a:ext cx="2606700" cy="3208200"/>
          </a:xfrm>
          <a:prstGeom prst="bentConnector3">
            <a:avLst>
              <a:gd fmla="val 65617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94" name="Google Shape;294;p35"/>
          <p:cNvCxnSpPr>
            <a:stCxn id="266" idx="3"/>
            <a:endCxn id="268" idx="1"/>
          </p:cNvCxnSpPr>
          <p:nvPr/>
        </p:nvCxnSpPr>
        <p:spPr>
          <a:xfrm>
            <a:off x="1458075" y="972675"/>
            <a:ext cx="244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5" name="Google Shape;295;p35"/>
          <p:cNvCxnSpPr>
            <a:endCxn id="277" idx="1"/>
          </p:cNvCxnSpPr>
          <p:nvPr/>
        </p:nvCxnSpPr>
        <p:spPr>
          <a:xfrm flipH="1" rot="10800000">
            <a:off x="5474075" y="1533102"/>
            <a:ext cx="616500" cy="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6" name="Google Shape;296;p35"/>
          <p:cNvCxnSpPr/>
          <p:nvPr/>
        </p:nvCxnSpPr>
        <p:spPr>
          <a:xfrm>
            <a:off x="2466650" y="1624575"/>
            <a:ext cx="244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7" name="Google Shape;297;p35"/>
          <p:cNvCxnSpPr>
            <a:stCxn id="270" idx="2"/>
            <a:endCxn id="271" idx="0"/>
          </p:cNvCxnSpPr>
          <p:nvPr/>
        </p:nvCxnSpPr>
        <p:spPr>
          <a:xfrm>
            <a:off x="3087464" y="1820633"/>
            <a:ext cx="0" cy="165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8" name="Google Shape;298;p35"/>
          <p:cNvCxnSpPr/>
          <p:nvPr/>
        </p:nvCxnSpPr>
        <p:spPr>
          <a:xfrm>
            <a:off x="3066989" y="2392108"/>
            <a:ext cx="0" cy="165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9" name="Google Shape;299;p35"/>
          <p:cNvCxnSpPr>
            <a:endCxn id="274" idx="0"/>
          </p:cNvCxnSpPr>
          <p:nvPr/>
        </p:nvCxnSpPr>
        <p:spPr>
          <a:xfrm>
            <a:off x="3087464" y="2963370"/>
            <a:ext cx="0" cy="257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0" name="Google Shape;300;p35"/>
          <p:cNvCxnSpPr/>
          <p:nvPr/>
        </p:nvCxnSpPr>
        <p:spPr>
          <a:xfrm>
            <a:off x="2466650" y="2767375"/>
            <a:ext cx="244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1" name="Google Shape;301;p35"/>
          <p:cNvCxnSpPr>
            <a:stCxn id="268" idx="2"/>
          </p:cNvCxnSpPr>
          <p:nvPr/>
        </p:nvCxnSpPr>
        <p:spPr>
          <a:xfrm>
            <a:off x="2078025" y="1168725"/>
            <a:ext cx="2100" cy="259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2" name="Google Shape;302;p35"/>
          <p:cNvCxnSpPr>
            <a:endCxn id="272" idx="0"/>
          </p:cNvCxnSpPr>
          <p:nvPr/>
        </p:nvCxnSpPr>
        <p:spPr>
          <a:xfrm>
            <a:off x="2090889" y="1820725"/>
            <a:ext cx="0" cy="750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3" name="Google Shape;303;p35"/>
          <p:cNvCxnSpPr>
            <a:stCxn id="272" idx="2"/>
            <a:endCxn id="275" idx="0"/>
          </p:cNvCxnSpPr>
          <p:nvPr/>
        </p:nvCxnSpPr>
        <p:spPr>
          <a:xfrm>
            <a:off x="2090889" y="2963425"/>
            <a:ext cx="0" cy="823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4" name="Google Shape;304;p35"/>
          <p:cNvCxnSpPr>
            <a:stCxn id="274" idx="1"/>
          </p:cNvCxnSpPr>
          <p:nvPr/>
        </p:nvCxnSpPr>
        <p:spPr>
          <a:xfrm rot="10800000">
            <a:off x="2091614" y="3415620"/>
            <a:ext cx="620100" cy="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5" name="Google Shape;305;p35"/>
          <p:cNvCxnSpPr/>
          <p:nvPr/>
        </p:nvCxnSpPr>
        <p:spPr>
          <a:xfrm>
            <a:off x="-45850" y="4458600"/>
            <a:ext cx="329100" cy="0"/>
          </a:xfrm>
          <a:prstGeom prst="straightConnector1">
            <a:avLst/>
          </a:prstGeom>
          <a:noFill/>
          <a:ln cap="flat" cmpd="sng" w="19050">
            <a:solidFill>
              <a:srgbClr val="2A9D8F"/>
            </a:solidFill>
            <a:prstDash val="dashDot"/>
            <a:round/>
            <a:headEnd len="med" w="med" type="none"/>
            <a:tailEnd len="med" w="med" type="none"/>
          </a:ln>
        </p:spPr>
      </p:cxnSp>
      <p:cxnSp>
        <p:nvCxnSpPr>
          <p:cNvPr id="306" name="Google Shape;306;p35"/>
          <p:cNvCxnSpPr/>
          <p:nvPr/>
        </p:nvCxnSpPr>
        <p:spPr>
          <a:xfrm rot="10800000">
            <a:off x="273825" y="1006500"/>
            <a:ext cx="0" cy="3454200"/>
          </a:xfrm>
          <a:prstGeom prst="straightConnector1">
            <a:avLst/>
          </a:prstGeom>
          <a:noFill/>
          <a:ln cap="flat" cmpd="sng" w="19050">
            <a:solidFill>
              <a:srgbClr val="2A9D8F"/>
            </a:solidFill>
            <a:prstDash val="dashDot"/>
            <a:round/>
            <a:headEnd len="med" w="med" type="none"/>
            <a:tailEnd len="med" w="med" type="none"/>
          </a:ln>
        </p:spPr>
      </p:cxnSp>
      <p:cxnSp>
        <p:nvCxnSpPr>
          <p:cNvPr id="307" name="Google Shape;307;p35"/>
          <p:cNvCxnSpPr>
            <a:endCxn id="266" idx="1"/>
          </p:cNvCxnSpPr>
          <p:nvPr/>
        </p:nvCxnSpPr>
        <p:spPr>
          <a:xfrm>
            <a:off x="268575" y="972675"/>
            <a:ext cx="274800" cy="0"/>
          </a:xfrm>
          <a:prstGeom prst="straightConnector1">
            <a:avLst/>
          </a:prstGeom>
          <a:noFill/>
          <a:ln cap="flat" cmpd="sng" w="19050">
            <a:solidFill>
              <a:srgbClr val="2A9D8F"/>
            </a:solidFill>
            <a:prstDash val="dashDot"/>
            <a:round/>
            <a:headEnd len="med" w="med" type="none"/>
            <a:tailEnd len="med" w="med" type="triangle"/>
          </a:ln>
        </p:spPr>
      </p:cxnSp>
      <p:cxnSp>
        <p:nvCxnSpPr>
          <p:cNvPr id="308" name="Google Shape;308;p35"/>
          <p:cNvCxnSpPr>
            <a:stCxn id="267" idx="3"/>
            <a:endCxn id="276" idx="1"/>
          </p:cNvCxnSpPr>
          <p:nvPr/>
        </p:nvCxnSpPr>
        <p:spPr>
          <a:xfrm>
            <a:off x="5857894" y="912180"/>
            <a:ext cx="23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9" name="Google Shape;309;p35"/>
          <p:cNvCxnSpPr>
            <a:stCxn id="267" idx="2"/>
          </p:cNvCxnSpPr>
          <p:nvPr/>
        </p:nvCxnSpPr>
        <p:spPr>
          <a:xfrm flipH="1">
            <a:off x="5481544" y="1108230"/>
            <a:ext cx="600" cy="426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0" name="Google Shape;310;p35"/>
          <p:cNvCxnSpPr>
            <a:stCxn id="276" idx="3"/>
            <a:endCxn id="278" idx="1"/>
          </p:cNvCxnSpPr>
          <p:nvPr/>
        </p:nvCxnSpPr>
        <p:spPr>
          <a:xfrm>
            <a:off x="6842075" y="912175"/>
            <a:ext cx="378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1" name="Google Shape;311;p35"/>
          <p:cNvCxnSpPr>
            <a:stCxn id="278" idx="3"/>
            <a:endCxn id="279" idx="2"/>
          </p:cNvCxnSpPr>
          <p:nvPr/>
        </p:nvCxnSpPr>
        <p:spPr>
          <a:xfrm>
            <a:off x="7807478" y="912175"/>
            <a:ext cx="397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2" name="Google Shape;312;p35"/>
          <p:cNvCxnSpPr>
            <a:stCxn id="277" idx="3"/>
            <a:endCxn id="280" idx="1"/>
          </p:cNvCxnSpPr>
          <p:nvPr/>
        </p:nvCxnSpPr>
        <p:spPr>
          <a:xfrm>
            <a:off x="6842075" y="1533102"/>
            <a:ext cx="447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3" name="Google Shape;313;p35"/>
          <p:cNvCxnSpPr>
            <a:stCxn id="280" idx="2"/>
            <a:endCxn id="281" idx="0"/>
          </p:cNvCxnSpPr>
          <p:nvPr/>
        </p:nvCxnSpPr>
        <p:spPr>
          <a:xfrm>
            <a:off x="7583055" y="1722861"/>
            <a:ext cx="0" cy="170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4" name="Google Shape;314;p35"/>
          <p:cNvCxnSpPr>
            <a:stCxn id="281" idx="2"/>
            <a:endCxn id="282" idx="0"/>
          </p:cNvCxnSpPr>
          <p:nvPr/>
        </p:nvCxnSpPr>
        <p:spPr>
          <a:xfrm>
            <a:off x="7583046" y="2272740"/>
            <a:ext cx="0" cy="190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5" name="Google Shape;315;p35"/>
          <p:cNvCxnSpPr>
            <a:stCxn id="284" idx="1"/>
            <a:endCxn id="283" idx="1"/>
          </p:cNvCxnSpPr>
          <p:nvPr/>
        </p:nvCxnSpPr>
        <p:spPr>
          <a:xfrm flipH="1" rot="10800000">
            <a:off x="8190825" y="2510750"/>
            <a:ext cx="600" cy="285000"/>
          </a:xfrm>
          <a:prstGeom prst="bentConnector3">
            <a:avLst>
              <a:gd fmla="val -30162502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16" name="Google Shape;316;p35"/>
          <p:cNvCxnSpPr/>
          <p:nvPr/>
        </p:nvCxnSpPr>
        <p:spPr>
          <a:xfrm flipH="1" rot="10800000">
            <a:off x="7876446" y="2676628"/>
            <a:ext cx="136500" cy="7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7" name="Google Shape;317;p35"/>
          <p:cNvCxnSpPr>
            <a:endCxn id="289" idx="1"/>
          </p:cNvCxnSpPr>
          <p:nvPr/>
        </p:nvCxnSpPr>
        <p:spPr>
          <a:xfrm>
            <a:off x="7876575" y="3234163"/>
            <a:ext cx="314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8" name="Google Shape;318;p35"/>
          <p:cNvCxnSpPr/>
          <p:nvPr/>
        </p:nvCxnSpPr>
        <p:spPr>
          <a:xfrm>
            <a:off x="7583371" y="2841465"/>
            <a:ext cx="0" cy="190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9" name="Google Shape;319;p35"/>
          <p:cNvCxnSpPr>
            <a:endCxn id="286" idx="0"/>
          </p:cNvCxnSpPr>
          <p:nvPr/>
        </p:nvCxnSpPr>
        <p:spPr>
          <a:xfrm>
            <a:off x="7583375" y="3399627"/>
            <a:ext cx="0" cy="154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0" name="Google Shape;320;p35"/>
          <p:cNvCxnSpPr/>
          <p:nvPr/>
        </p:nvCxnSpPr>
        <p:spPr>
          <a:xfrm>
            <a:off x="7598300" y="4138527"/>
            <a:ext cx="0" cy="154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1" name="Google Shape;321;p35"/>
          <p:cNvCxnSpPr>
            <a:stCxn id="290" idx="2"/>
            <a:endCxn id="291" idx="0"/>
          </p:cNvCxnSpPr>
          <p:nvPr/>
        </p:nvCxnSpPr>
        <p:spPr>
          <a:xfrm>
            <a:off x="7583375" y="4506673"/>
            <a:ext cx="7500" cy="119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2" name="Google Shape;322;p35"/>
          <p:cNvCxnSpPr>
            <a:stCxn id="292" idx="1"/>
          </p:cNvCxnSpPr>
          <p:nvPr/>
        </p:nvCxnSpPr>
        <p:spPr>
          <a:xfrm flipH="1" rot="10800000">
            <a:off x="8190675" y="3654950"/>
            <a:ext cx="900" cy="405000"/>
          </a:xfrm>
          <a:prstGeom prst="bentConnector4">
            <a:avLst>
              <a:gd fmla="val -26458333" name="adj1"/>
              <a:gd fmla="val 101099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23" name="Google Shape;323;p35"/>
          <p:cNvCxnSpPr/>
          <p:nvPr/>
        </p:nvCxnSpPr>
        <p:spPr>
          <a:xfrm>
            <a:off x="7876575" y="3855213"/>
            <a:ext cx="314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4" name="Google Shape;324;p35"/>
          <p:cNvCxnSpPr>
            <a:stCxn id="291" idx="3"/>
          </p:cNvCxnSpPr>
          <p:nvPr/>
        </p:nvCxnSpPr>
        <p:spPr>
          <a:xfrm>
            <a:off x="7884275" y="4728225"/>
            <a:ext cx="1320000" cy="0"/>
          </a:xfrm>
          <a:prstGeom prst="straightConnector1">
            <a:avLst/>
          </a:prstGeom>
          <a:noFill/>
          <a:ln cap="flat" cmpd="sng" w="19050">
            <a:solidFill>
              <a:srgbClr val="2A9D8F"/>
            </a:solidFill>
            <a:prstDash val="dash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6"/>
          <p:cNvSpPr/>
          <p:nvPr/>
        </p:nvSpPr>
        <p:spPr>
          <a:xfrm>
            <a:off x="1064425" y="1792425"/>
            <a:ext cx="2838900" cy="16611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" name="Google Shape;330;p36"/>
          <p:cNvSpPr/>
          <p:nvPr/>
        </p:nvSpPr>
        <p:spPr>
          <a:xfrm>
            <a:off x="1538025" y="1493475"/>
            <a:ext cx="1774500" cy="632700"/>
          </a:xfrm>
          <a:prstGeom prst="wave">
            <a:avLst>
              <a:gd fmla="val 12500" name="adj1"/>
              <a:gd fmla="val 0" name="adj2"/>
            </a:avLst>
          </a:prstGeom>
          <a:solidFill>
            <a:srgbClr val="47AFA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Feedback Loop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31" name="Google Shape;331;p36"/>
          <p:cNvSpPr/>
          <p:nvPr/>
        </p:nvSpPr>
        <p:spPr>
          <a:xfrm>
            <a:off x="1587450" y="2478950"/>
            <a:ext cx="1800300" cy="63270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Return to User 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Input Prompt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2" name="Google Shape;332;p36"/>
          <p:cNvSpPr/>
          <p:nvPr/>
        </p:nvSpPr>
        <p:spPr>
          <a:xfrm>
            <a:off x="5927700" y="2416100"/>
            <a:ext cx="1800300" cy="758400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Option to Resume Monitoring or Exit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3" name="Google Shape;333;p36"/>
          <p:cNvSpPr/>
          <p:nvPr/>
        </p:nvSpPr>
        <p:spPr>
          <a:xfrm>
            <a:off x="6312000" y="610326"/>
            <a:ext cx="1031700" cy="1031700"/>
          </a:xfrm>
          <a:prstGeom prst="ellipse">
            <a:avLst/>
          </a:prstGeom>
          <a:solidFill>
            <a:srgbClr val="98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End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4" name="Google Shape;334;p36"/>
          <p:cNvCxnSpPr/>
          <p:nvPr/>
        </p:nvCxnSpPr>
        <p:spPr>
          <a:xfrm>
            <a:off x="-74000" y="4728225"/>
            <a:ext cx="5181600" cy="0"/>
          </a:xfrm>
          <a:prstGeom prst="straightConnector1">
            <a:avLst/>
          </a:prstGeom>
          <a:noFill/>
          <a:ln cap="flat" cmpd="sng" w="19050">
            <a:solidFill>
              <a:srgbClr val="2A9D8F"/>
            </a:solidFill>
            <a:prstDash val="dashDot"/>
            <a:round/>
            <a:headEnd len="med" w="med" type="none"/>
            <a:tailEnd len="med" w="med" type="none"/>
          </a:ln>
        </p:spPr>
      </p:cxnSp>
      <p:cxnSp>
        <p:nvCxnSpPr>
          <p:cNvPr id="335" name="Google Shape;335;p36"/>
          <p:cNvCxnSpPr>
            <a:endCxn id="331" idx="2"/>
          </p:cNvCxnSpPr>
          <p:nvPr/>
        </p:nvCxnSpPr>
        <p:spPr>
          <a:xfrm rot="10800000">
            <a:off x="2487600" y="3111650"/>
            <a:ext cx="0" cy="1607700"/>
          </a:xfrm>
          <a:prstGeom prst="straightConnector1">
            <a:avLst/>
          </a:prstGeom>
          <a:noFill/>
          <a:ln cap="flat" cmpd="sng" w="19050">
            <a:solidFill>
              <a:srgbClr val="2A9D8F"/>
            </a:solidFill>
            <a:prstDash val="dashDot"/>
            <a:round/>
            <a:headEnd len="med" w="med" type="none"/>
            <a:tailEnd len="med" w="med" type="triangle"/>
          </a:ln>
        </p:spPr>
      </p:cxnSp>
      <p:cxnSp>
        <p:nvCxnSpPr>
          <p:cNvPr id="336" name="Google Shape;336;p36"/>
          <p:cNvCxnSpPr/>
          <p:nvPr/>
        </p:nvCxnSpPr>
        <p:spPr>
          <a:xfrm>
            <a:off x="5107625" y="1135475"/>
            <a:ext cx="0" cy="3605400"/>
          </a:xfrm>
          <a:prstGeom prst="straightConnector1">
            <a:avLst/>
          </a:prstGeom>
          <a:noFill/>
          <a:ln cap="flat" cmpd="sng" w="19050">
            <a:solidFill>
              <a:srgbClr val="2A9D8F"/>
            </a:solidFill>
            <a:prstDash val="dashDot"/>
            <a:round/>
            <a:headEnd len="med" w="med" type="none"/>
            <a:tailEnd len="med" w="med" type="none"/>
          </a:ln>
        </p:spPr>
      </p:cxnSp>
      <p:cxnSp>
        <p:nvCxnSpPr>
          <p:cNvPr id="337" name="Google Shape;337;p36"/>
          <p:cNvCxnSpPr>
            <a:endCxn id="333" idx="2"/>
          </p:cNvCxnSpPr>
          <p:nvPr/>
        </p:nvCxnSpPr>
        <p:spPr>
          <a:xfrm>
            <a:off x="5097000" y="1124676"/>
            <a:ext cx="1215000" cy="1500"/>
          </a:xfrm>
          <a:prstGeom prst="straightConnector1">
            <a:avLst/>
          </a:prstGeom>
          <a:noFill/>
          <a:ln cap="flat" cmpd="sng" w="19050">
            <a:solidFill>
              <a:srgbClr val="2A9D8F"/>
            </a:solidFill>
            <a:prstDash val="dashDot"/>
            <a:round/>
            <a:headEnd len="med" w="med" type="none"/>
            <a:tailEnd len="med" w="med" type="triangle"/>
          </a:ln>
        </p:spPr>
      </p:cxnSp>
      <p:cxnSp>
        <p:nvCxnSpPr>
          <p:cNvPr id="338" name="Google Shape;338;p36"/>
          <p:cNvCxnSpPr>
            <a:stCxn id="333" idx="4"/>
            <a:endCxn id="332" idx="0"/>
          </p:cNvCxnSpPr>
          <p:nvPr/>
        </p:nvCxnSpPr>
        <p:spPr>
          <a:xfrm>
            <a:off x="6827850" y="1642026"/>
            <a:ext cx="0" cy="774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9" name="Google Shape;339;p36"/>
          <p:cNvCxnSpPr>
            <a:stCxn id="332" idx="1"/>
            <a:endCxn id="331" idx="3"/>
          </p:cNvCxnSpPr>
          <p:nvPr/>
        </p:nvCxnSpPr>
        <p:spPr>
          <a:xfrm rot="10800000">
            <a:off x="3387900" y="2795300"/>
            <a:ext cx="2539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7"/>
          <p:cNvSpPr txBox="1"/>
          <p:nvPr>
            <p:ph type="ctrTitle"/>
          </p:nvPr>
        </p:nvSpPr>
        <p:spPr>
          <a:xfrm>
            <a:off x="2488800" y="2432800"/>
            <a:ext cx="4639200" cy="108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5000"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rPr>
              <a:t>Live Demo Video</a:t>
            </a:r>
            <a:endParaRPr b="0" sz="5000">
              <a:latin typeface="Fira Sans Condensed SemiBold"/>
              <a:ea typeface="Fira Sans Condensed SemiBold"/>
              <a:cs typeface="Fira Sans Condensed SemiBold"/>
              <a:sym typeface="Fira Sans Condensed SemiBold"/>
            </a:endParaRPr>
          </a:p>
        </p:txBody>
      </p:sp>
      <p:sp>
        <p:nvSpPr>
          <p:cNvPr id="345" name="Google Shape;345;p37"/>
          <p:cNvSpPr txBox="1"/>
          <p:nvPr>
            <p:ph type="ctrTitle"/>
          </p:nvPr>
        </p:nvSpPr>
        <p:spPr>
          <a:xfrm>
            <a:off x="1699988" y="2432800"/>
            <a:ext cx="904200" cy="108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5000">
                <a:solidFill>
                  <a:schemeClr val="accent4"/>
                </a:solidFill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rPr>
              <a:t>#5</a:t>
            </a:r>
            <a:endParaRPr b="0" sz="5000">
              <a:solidFill>
                <a:schemeClr val="accent4"/>
              </a:solidFill>
              <a:latin typeface="Fira Sans Condensed SemiBold"/>
              <a:ea typeface="Fira Sans Condensed SemiBold"/>
              <a:cs typeface="Fira Sans Condensed SemiBold"/>
              <a:sym typeface="Fira Sans Condensed SemiBold"/>
            </a:endParaRPr>
          </a:p>
        </p:txBody>
      </p:sp>
      <p:sp>
        <p:nvSpPr>
          <p:cNvPr id="346" name="Google Shape;346;p37"/>
          <p:cNvSpPr/>
          <p:nvPr/>
        </p:nvSpPr>
        <p:spPr>
          <a:xfrm>
            <a:off x="3806164" y="1273074"/>
            <a:ext cx="622407" cy="622396"/>
          </a:xfrm>
          <a:custGeom>
            <a:rect b="b" l="l" r="r" t="t"/>
            <a:pathLst>
              <a:path extrusionOk="0" h="59990" w="59991">
                <a:moveTo>
                  <a:pt x="59990" y="0"/>
                </a:moveTo>
                <a:cubicBezTo>
                  <a:pt x="26871" y="0"/>
                  <a:pt x="1" y="26870"/>
                  <a:pt x="1" y="59989"/>
                </a:cubicBezTo>
                <a:lnTo>
                  <a:pt x="37819" y="59989"/>
                </a:lnTo>
                <a:cubicBezTo>
                  <a:pt x="37819" y="47691"/>
                  <a:pt x="47717" y="37693"/>
                  <a:pt x="59990" y="37693"/>
                </a:cubicBezTo>
                <a:lnTo>
                  <a:pt x="5999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37"/>
          <p:cNvSpPr/>
          <p:nvPr/>
        </p:nvSpPr>
        <p:spPr>
          <a:xfrm>
            <a:off x="4424584" y="1273074"/>
            <a:ext cx="622396" cy="622396"/>
          </a:xfrm>
          <a:custGeom>
            <a:rect b="b" l="l" r="r" t="t"/>
            <a:pathLst>
              <a:path extrusionOk="0" h="59990" w="59990">
                <a:moveTo>
                  <a:pt x="0" y="0"/>
                </a:moveTo>
                <a:lnTo>
                  <a:pt x="0" y="37693"/>
                </a:lnTo>
                <a:cubicBezTo>
                  <a:pt x="12298" y="37693"/>
                  <a:pt x="22196" y="47691"/>
                  <a:pt x="22196" y="59989"/>
                </a:cubicBezTo>
                <a:lnTo>
                  <a:pt x="59990" y="59989"/>
                </a:lnTo>
                <a:cubicBezTo>
                  <a:pt x="59990" y="26870"/>
                  <a:pt x="33119" y="0"/>
                  <a:pt x="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37"/>
          <p:cNvSpPr/>
          <p:nvPr/>
        </p:nvSpPr>
        <p:spPr>
          <a:xfrm>
            <a:off x="3806164" y="1891478"/>
            <a:ext cx="622407" cy="621359"/>
          </a:xfrm>
          <a:custGeom>
            <a:rect b="b" l="l" r="r" t="t"/>
            <a:pathLst>
              <a:path extrusionOk="0" h="59890" w="59991">
                <a:moveTo>
                  <a:pt x="1" y="0"/>
                </a:moveTo>
                <a:cubicBezTo>
                  <a:pt x="1" y="33019"/>
                  <a:pt x="26871" y="59889"/>
                  <a:pt x="59990" y="59889"/>
                </a:cubicBezTo>
                <a:lnTo>
                  <a:pt x="59990" y="22196"/>
                </a:lnTo>
                <a:cubicBezTo>
                  <a:pt x="47717" y="22196"/>
                  <a:pt x="37819" y="12198"/>
                  <a:pt x="3781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37"/>
          <p:cNvSpPr/>
          <p:nvPr/>
        </p:nvSpPr>
        <p:spPr>
          <a:xfrm>
            <a:off x="4424584" y="1891478"/>
            <a:ext cx="622396" cy="621359"/>
          </a:xfrm>
          <a:custGeom>
            <a:rect b="b" l="l" r="r" t="t"/>
            <a:pathLst>
              <a:path extrusionOk="0" h="59890" w="59990">
                <a:moveTo>
                  <a:pt x="22196" y="0"/>
                </a:moveTo>
                <a:cubicBezTo>
                  <a:pt x="22196" y="12198"/>
                  <a:pt x="12298" y="22196"/>
                  <a:pt x="0" y="22196"/>
                </a:cubicBezTo>
                <a:lnTo>
                  <a:pt x="0" y="59889"/>
                </a:lnTo>
                <a:cubicBezTo>
                  <a:pt x="33119" y="59889"/>
                  <a:pt x="59990" y="33019"/>
                  <a:pt x="5999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8"/>
          <p:cNvSpPr/>
          <p:nvPr/>
        </p:nvSpPr>
        <p:spPr>
          <a:xfrm flipH="1">
            <a:off x="-2" y="0"/>
            <a:ext cx="564252" cy="5143485"/>
          </a:xfrm>
          <a:custGeom>
            <a:rect b="b" l="l" r="r" t="t"/>
            <a:pathLst>
              <a:path extrusionOk="0" h="15812" w="2303">
                <a:moveTo>
                  <a:pt x="1" y="0"/>
                </a:moveTo>
                <a:lnTo>
                  <a:pt x="1" y="15812"/>
                </a:lnTo>
                <a:lnTo>
                  <a:pt x="2302" y="15812"/>
                </a:lnTo>
                <a:lnTo>
                  <a:pt x="230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8817"/>
              </a:solidFill>
            </a:endParaRPr>
          </a:p>
        </p:txBody>
      </p:sp>
      <p:sp>
        <p:nvSpPr>
          <p:cNvPr id="355" name="Google Shape;355;p38"/>
          <p:cNvSpPr/>
          <p:nvPr/>
        </p:nvSpPr>
        <p:spPr>
          <a:xfrm flipH="1">
            <a:off x="8579748" y="0"/>
            <a:ext cx="564252" cy="5143485"/>
          </a:xfrm>
          <a:custGeom>
            <a:rect b="b" l="l" r="r" t="t"/>
            <a:pathLst>
              <a:path extrusionOk="0" h="15812" w="2303">
                <a:moveTo>
                  <a:pt x="1" y="0"/>
                </a:moveTo>
                <a:lnTo>
                  <a:pt x="1" y="15812"/>
                </a:lnTo>
                <a:lnTo>
                  <a:pt x="2302" y="15812"/>
                </a:lnTo>
                <a:lnTo>
                  <a:pt x="2302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8817"/>
              </a:solidFill>
            </a:endParaRPr>
          </a:p>
        </p:txBody>
      </p:sp>
      <p:pic>
        <p:nvPicPr>
          <p:cNvPr id="356" name="Google Shape;356;p38" title="VitalitySync_LiveDemo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625" y="0"/>
            <a:ext cx="828673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9"/>
          <p:cNvSpPr/>
          <p:nvPr/>
        </p:nvSpPr>
        <p:spPr>
          <a:xfrm>
            <a:off x="5202600" y="744300"/>
            <a:ext cx="3654600" cy="3654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39"/>
          <p:cNvSpPr/>
          <p:nvPr/>
        </p:nvSpPr>
        <p:spPr>
          <a:xfrm>
            <a:off x="5670641" y="1212287"/>
            <a:ext cx="2718600" cy="2718600"/>
          </a:xfrm>
          <a:prstGeom prst="blockArc">
            <a:avLst>
              <a:gd fmla="val 10781007" name="adj1"/>
              <a:gd fmla="val 6367446" name="adj2"/>
              <a:gd fmla="val 10626" name="adj3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737572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363" name="Google Shape;363;p39"/>
          <p:cNvSpPr/>
          <p:nvPr/>
        </p:nvSpPr>
        <p:spPr>
          <a:xfrm>
            <a:off x="5957154" y="1498781"/>
            <a:ext cx="2145300" cy="2145300"/>
          </a:xfrm>
          <a:prstGeom prst="blockArc">
            <a:avLst>
              <a:gd fmla="val 10800000" name="adj1"/>
              <a:gd fmla="val 2576230" name="adj2"/>
              <a:gd fmla="val 12216" name="adj3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737572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364" name="Google Shape;364;p39"/>
          <p:cNvSpPr/>
          <p:nvPr/>
        </p:nvSpPr>
        <p:spPr>
          <a:xfrm>
            <a:off x="5387691" y="929503"/>
            <a:ext cx="3284400" cy="3284400"/>
          </a:xfrm>
          <a:prstGeom prst="blockArc">
            <a:avLst>
              <a:gd fmla="val 10779009" name="adj1"/>
              <a:gd fmla="val 8852557" name="adj2"/>
              <a:gd fmla="val 8766" name="adj3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737572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365" name="Google Shape;365;p39"/>
          <p:cNvSpPr txBox="1"/>
          <p:nvPr>
            <p:ph idx="4294967295" type="ctrTitle"/>
          </p:nvPr>
        </p:nvSpPr>
        <p:spPr>
          <a:xfrm>
            <a:off x="843325" y="2064550"/>
            <a:ext cx="3654600" cy="103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300"/>
              </a:spcAft>
              <a:buNone/>
            </a:pPr>
            <a:r>
              <a:rPr b="0" lang="en" sz="6300"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rPr>
              <a:t>Thank You</a:t>
            </a:r>
            <a:endParaRPr b="0" sz="6300">
              <a:latin typeface="Fira Sans Condensed SemiBold"/>
              <a:ea typeface="Fira Sans Condensed SemiBold"/>
              <a:cs typeface="Fira Sans Condensed SemiBold"/>
              <a:sym typeface="Fira Sans Condensed SemiBold"/>
            </a:endParaRPr>
          </a:p>
        </p:txBody>
      </p:sp>
      <p:sp>
        <p:nvSpPr>
          <p:cNvPr id="366" name="Google Shape;366;p39"/>
          <p:cNvSpPr txBox="1"/>
          <p:nvPr>
            <p:ph idx="4294967295" type="subTitle"/>
          </p:nvPr>
        </p:nvSpPr>
        <p:spPr>
          <a:xfrm>
            <a:off x="953375" y="2963477"/>
            <a:ext cx="3654300" cy="57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" sz="2000"/>
              <a:t>Any Questions?</a:t>
            </a:r>
            <a:endParaRPr sz="2000"/>
          </a:p>
        </p:txBody>
      </p:sp>
      <p:sp>
        <p:nvSpPr>
          <p:cNvPr id="367" name="Google Shape;367;p39"/>
          <p:cNvSpPr txBox="1"/>
          <p:nvPr>
            <p:ph idx="4294967295" type="subTitle"/>
          </p:nvPr>
        </p:nvSpPr>
        <p:spPr>
          <a:xfrm>
            <a:off x="1640250" y="1212275"/>
            <a:ext cx="1750800" cy="32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600"/>
              </a:spcAft>
              <a:buNone/>
            </a:pPr>
            <a:r>
              <a:rPr i="1" lang="en" sz="900">
                <a:solidFill>
                  <a:schemeClr val="accent1"/>
                </a:solidFill>
              </a:rPr>
              <a:t>“Stay Ahead, Stay Healthy”</a:t>
            </a:r>
            <a:endParaRPr i="1" sz="900">
              <a:solidFill>
                <a:schemeClr val="accent1"/>
              </a:solidFill>
            </a:endParaRPr>
          </a:p>
        </p:txBody>
      </p:sp>
      <p:sp>
        <p:nvSpPr>
          <p:cNvPr id="368" name="Google Shape;368;p39"/>
          <p:cNvSpPr txBox="1"/>
          <p:nvPr>
            <p:ph idx="4294967295" type="ctrTitle"/>
          </p:nvPr>
        </p:nvSpPr>
        <p:spPr>
          <a:xfrm>
            <a:off x="1358075" y="654500"/>
            <a:ext cx="2402400" cy="73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500">
                <a:solidFill>
                  <a:schemeClr val="accent4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Vitality</a:t>
            </a:r>
            <a:r>
              <a:rPr i="1" lang="en" sz="3500">
                <a:solidFill>
                  <a:schemeClr val="accent2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Sync</a:t>
            </a:r>
            <a:endParaRPr b="0" sz="2500">
              <a:latin typeface="Fira Sans Condensed SemiBold"/>
              <a:ea typeface="Fira Sans Condensed SemiBold"/>
              <a:cs typeface="Fira Sans Condensed SemiBold"/>
              <a:sym typeface="Fira Sans Condensed SemiBol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0"/>
          <p:cNvSpPr/>
          <p:nvPr/>
        </p:nvSpPr>
        <p:spPr>
          <a:xfrm>
            <a:off x="7973150" y="3993163"/>
            <a:ext cx="1001700" cy="1002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40"/>
          <p:cNvSpPr txBox="1"/>
          <p:nvPr>
            <p:ph idx="4294967295" type="ctrTitle"/>
          </p:nvPr>
        </p:nvSpPr>
        <p:spPr>
          <a:xfrm>
            <a:off x="1431000" y="1149300"/>
            <a:ext cx="6282000" cy="4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300"/>
              </a:spcAft>
              <a:buNone/>
            </a:pPr>
            <a:r>
              <a:rPr b="0" lang="en" sz="3000">
                <a:latin typeface="Fira Sans Condensed SemiBold"/>
                <a:ea typeface="Fira Sans Condensed SemiBold"/>
                <a:cs typeface="Fira Sans Condensed SemiBold"/>
                <a:sym typeface="Fira Sans Condensed SemiBold"/>
              </a:rPr>
              <a:t>Links to All Deliverables</a:t>
            </a:r>
            <a:endParaRPr b="0" sz="3000">
              <a:latin typeface="Fira Sans Condensed SemiBold"/>
              <a:ea typeface="Fira Sans Condensed SemiBold"/>
              <a:cs typeface="Fira Sans Condensed SemiBold"/>
              <a:sym typeface="Fira Sans Condensed SemiBold"/>
            </a:endParaRPr>
          </a:p>
        </p:txBody>
      </p:sp>
      <p:sp>
        <p:nvSpPr>
          <p:cNvPr id="375" name="Google Shape;375;p40"/>
          <p:cNvSpPr txBox="1"/>
          <p:nvPr>
            <p:ph idx="4294967295" type="subTitle"/>
          </p:nvPr>
        </p:nvSpPr>
        <p:spPr>
          <a:xfrm>
            <a:off x="694225" y="1879898"/>
            <a:ext cx="7447200" cy="16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 u="sng">
                <a:solidFill>
                  <a:schemeClr val="hlink"/>
                </a:solidFill>
                <a:hlinkClick r:id="rId3"/>
              </a:rPr>
              <a:t>Working Prototype (GitHub Source Code)</a:t>
            </a:r>
            <a:endParaRPr sz="1700"/>
          </a:p>
          <a:p>
            <a:pPr indent="-336550" lvl="0" marL="4572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 u="sng">
                <a:solidFill>
                  <a:schemeClr val="hlink"/>
                </a:solidFill>
                <a:hlinkClick r:id="rId4"/>
              </a:rPr>
              <a:t>Documentation and Diagrams (GitHub </a:t>
            </a:r>
            <a:r>
              <a:rPr i="1" lang="en" sz="1700" u="sng">
                <a:solidFill>
                  <a:schemeClr val="hlink"/>
                </a:solidFill>
                <a:hlinkClick r:id="rId5"/>
              </a:rPr>
              <a:t>.ipynb</a:t>
            </a:r>
            <a:r>
              <a:rPr lang="en" sz="1700" u="sng">
                <a:solidFill>
                  <a:schemeClr val="hlink"/>
                </a:solidFill>
                <a:hlinkClick r:id="rId6"/>
              </a:rPr>
              <a:t> file)</a:t>
            </a:r>
            <a:endParaRPr sz="1700"/>
          </a:p>
          <a:p>
            <a:pPr indent="-336550" lvl="0" marL="4572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" sz="1700" u="sng">
                <a:solidFill>
                  <a:schemeClr val="hlink"/>
                </a:solidFill>
                <a:hlinkClick r:id="rId7"/>
              </a:rPr>
              <a:t>Product Description (Pitch) and Reflection (GitHub </a:t>
            </a:r>
            <a:r>
              <a:rPr i="1" lang="en" sz="1700" u="sng">
                <a:solidFill>
                  <a:schemeClr val="hlink"/>
                </a:solidFill>
                <a:hlinkClick r:id="rId8"/>
              </a:rPr>
              <a:t>README.md</a:t>
            </a:r>
            <a:r>
              <a:rPr lang="en" sz="1700" u="sng">
                <a:solidFill>
                  <a:schemeClr val="hlink"/>
                </a:solidFill>
                <a:hlinkClick r:id="rId9"/>
              </a:rPr>
              <a:t> file)</a:t>
            </a:r>
            <a:endParaRPr sz="1700"/>
          </a:p>
          <a:p>
            <a:pPr indent="-336550" lvl="0" marL="4572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 u="sng">
                <a:solidFill>
                  <a:schemeClr val="hlink"/>
                </a:solidFill>
                <a:hlinkClick r:id="rId10"/>
              </a:rPr>
              <a:t>Product Presentation</a:t>
            </a:r>
            <a:endParaRPr sz="1700"/>
          </a:p>
        </p:txBody>
      </p:sp>
      <p:sp>
        <p:nvSpPr>
          <p:cNvPr id="376" name="Google Shape;376;p40"/>
          <p:cNvSpPr txBox="1"/>
          <p:nvPr>
            <p:ph idx="4294967295" type="subTitle"/>
          </p:nvPr>
        </p:nvSpPr>
        <p:spPr>
          <a:xfrm>
            <a:off x="3652975" y="768975"/>
            <a:ext cx="1750800" cy="32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600"/>
              </a:spcAft>
              <a:buNone/>
            </a:pPr>
            <a:r>
              <a:rPr i="1" lang="en" sz="900">
                <a:solidFill>
                  <a:schemeClr val="accent1"/>
                </a:solidFill>
              </a:rPr>
              <a:t>“Stay Ahead, Stay Healthy”</a:t>
            </a:r>
            <a:endParaRPr i="1" sz="900">
              <a:solidFill>
                <a:schemeClr val="accent1"/>
              </a:solidFill>
            </a:endParaRPr>
          </a:p>
        </p:txBody>
      </p:sp>
      <p:sp>
        <p:nvSpPr>
          <p:cNvPr id="377" name="Google Shape;377;p40"/>
          <p:cNvSpPr txBox="1"/>
          <p:nvPr>
            <p:ph idx="4294967295" type="ctrTitle"/>
          </p:nvPr>
        </p:nvSpPr>
        <p:spPr>
          <a:xfrm>
            <a:off x="3370800" y="211200"/>
            <a:ext cx="2402400" cy="73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500">
                <a:solidFill>
                  <a:schemeClr val="accent4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Vitality</a:t>
            </a:r>
            <a:r>
              <a:rPr i="1" lang="en" sz="3500">
                <a:solidFill>
                  <a:schemeClr val="accent2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Sync</a:t>
            </a:r>
            <a:endParaRPr b="0" sz="2500">
              <a:latin typeface="Fira Sans Condensed SemiBold"/>
              <a:ea typeface="Fira Sans Condensed SemiBold"/>
              <a:cs typeface="Fira Sans Condensed SemiBold"/>
              <a:sym typeface="Fira Sans Condensed SemiBold"/>
            </a:endParaRPr>
          </a:p>
        </p:txBody>
      </p:sp>
      <p:sp>
        <p:nvSpPr>
          <p:cNvPr id="378" name="Google Shape;378;p40"/>
          <p:cNvSpPr/>
          <p:nvPr/>
        </p:nvSpPr>
        <p:spPr>
          <a:xfrm>
            <a:off x="259500" y="4037325"/>
            <a:ext cx="458331" cy="458324"/>
          </a:xfrm>
          <a:custGeom>
            <a:rect b="b" l="l" r="r" t="t"/>
            <a:pathLst>
              <a:path extrusionOk="0" h="59990" w="59991">
                <a:moveTo>
                  <a:pt x="59990" y="0"/>
                </a:moveTo>
                <a:cubicBezTo>
                  <a:pt x="26871" y="0"/>
                  <a:pt x="1" y="26870"/>
                  <a:pt x="1" y="59989"/>
                </a:cubicBezTo>
                <a:lnTo>
                  <a:pt x="37819" y="59989"/>
                </a:lnTo>
                <a:cubicBezTo>
                  <a:pt x="37819" y="47691"/>
                  <a:pt x="47717" y="37693"/>
                  <a:pt x="59990" y="37693"/>
                </a:cubicBezTo>
                <a:lnTo>
                  <a:pt x="5999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40"/>
          <p:cNvSpPr/>
          <p:nvPr/>
        </p:nvSpPr>
        <p:spPr>
          <a:xfrm>
            <a:off x="714900" y="4037325"/>
            <a:ext cx="458324" cy="458324"/>
          </a:xfrm>
          <a:custGeom>
            <a:rect b="b" l="l" r="r" t="t"/>
            <a:pathLst>
              <a:path extrusionOk="0" h="59990" w="59990">
                <a:moveTo>
                  <a:pt x="0" y="0"/>
                </a:moveTo>
                <a:lnTo>
                  <a:pt x="0" y="37693"/>
                </a:lnTo>
                <a:cubicBezTo>
                  <a:pt x="12298" y="37693"/>
                  <a:pt x="22196" y="47691"/>
                  <a:pt x="22196" y="59989"/>
                </a:cubicBezTo>
                <a:lnTo>
                  <a:pt x="59990" y="59989"/>
                </a:lnTo>
                <a:cubicBezTo>
                  <a:pt x="59990" y="26870"/>
                  <a:pt x="33119" y="0"/>
                  <a:pt x="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40"/>
          <p:cNvSpPr/>
          <p:nvPr/>
        </p:nvSpPr>
        <p:spPr>
          <a:xfrm>
            <a:off x="259500" y="4492713"/>
            <a:ext cx="458331" cy="457560"/>
          </a:xfrm>
          <a:custGeom>
            <a:rect b="b" l="l" r="r" t="t"/>
            <a:pathLst>
              <a:path extrusionOk="0" h="59890" w="59991">
                <a:moveTo>
                  <a:pt x="1" y="0"/>
                </a:moveTo>
                <a:cubicBezTo>
                  <a:pt x="1" y="33019"/>
                  <a:pt x="26871" y="59889"/>
                  <a:pt x="59990" y="59889"/>
                </a:cubicBezTo>
                <a:lnTo>
                  <a:pt x="59990" y="22196"/>
                </a:lnTo>
                <a:cubicBezTo>
                  <a:pt x="47717" y="22196"/>
                  <a:pt x="37819" y="12198"/>
                  <a:pt x="3781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40"/>
          <p:cNvSpPr/>
          <p:nvPr/>
        </p:nvSpPr>
        <p:spPr>
          <a:xfrm>
            <a:off x="714900" y="4492713"/>
            <a:ext cx="458324" cy="457560"/>
          </a:xfrm>
          <a:custGeom>
            <a:rect b="b" l="l" r="r" t="t"/>
            <a:pathLst>
              <a:path extrusionOk="0" h="59890" w="59990">
                <a:moveTo>
                  <a:pt x="22196" y="0"/>
                </a:moveTo>
                <a:cubicBezTo>
                  <a:pt x="22196" y="12198"/>
                  <a:pt x="12298" y="22196"/>
                  <a:pt x="0" y="22196"/>
                </a:cubicBezTo>
                <a:lnTo>
                  <a:pt x="0" y="59889"/>
                </a:lnTo>
                <a:cubicBezTo>
                  <a:pt x="33119" y="59889"/>
                  <a:pt x="59990" y="33019"/>
                  <a:pt x="5999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40"/>
          <p:cNvSpPr/>
          <p:nvPr/>
        </p:nvSpPr>
        <p:spPr>
          <a:xfrm flipH="1">
            <a:off x="4644955" y="4330311"/>
            <a:ext cx="230580" cy="674015"/>
          </a:xfrm>
          <a:custGeom>
            <a:rect b="b" l="l" r="r" t="t"/>
            <a:pathLst>
              <a:path extrusionOk="0" h="14545" w="2302">
                <a:moveTo>
                  <a:pt x="0" y="1"/>
                </a:moveTo>
                <a:lnTo>
                  <a:pt x="0" y="14545"/>
                </a:lnTo>
                <a:lnTo>
                  <a:pt x="2302" y="14545"/>
                </a:lnTo>
                <a:lnTo>
                  <a:pt x="2302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40"/>
          <p:cNvSpPr/>
          <p:nvPr/>
        </p:nvSpPr>
        <p:spPr>
          <a:xfrm flipH="1">
            <a:off x="4302555" y="4121428"/>
            <a:ext cx="230582" cy="882903"/>
          </a:xfrm>
          <a:custGeom>
            <a:rect b="b" l="l" r="r" t="t"/>
            <a:pathLst>
              <a:path extrusionOk="0" h="15812" w="2303">
                <a:moveTo>
                  <a:pt x="1" y="0"/>
                </a:moveTo>
                <a:lnTo>
                  <a:pt x="1" y="15812"/>
                </a:lnTo>
                <a:lnTo>
                  <a:pt x="2302" y="15812"/>
                </a:lnTo>
                <a:lnTo>
                  <a:pt x="2302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8817"/>
              </a:solidFill>
            </a:endParaRPr>
          </a:p>
        </p:txBody>
      </p:sp>
      <p:sp>
        <p:nvSpPr>
          <p:cNvPr id="384" name="Google Shape;384;p40"/>
          <p:cNvSpPr/>
          <p:nvPr/>
        </p:nvSpPr>
        <p:spPr>
          <a:xfrm flipH="1">
            <a:off x="3960167" y="4578206"/>
            <a:ext cx="230582" cy="424401"/>
          </a:xfrm>
          <a:custGeom>
            <a:rect b="b" l="l" r="r" t="t"/>
            <a:pathLst>
              <a:path extrusionOk="0" h="11209" w="2303">
                <a:moveTo>
                  <a:pt x="1" y="0"/>
                </a:moveTo>
                <a:lnTo>
                  <a:pt x="1" y="11208"/>
                </a:lnTo>
                <a:lnTo>
                  <a:pt x="2302" y="11208"/>
                </a:lnTo>
                <a:lnTo>
                  <a:pt x="230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40"/>
          <p:cNvSpPr/>
          <p:nvPr/>
        </p:nvSpPr>
        <p:spPr>
          <a:xfrm flipH="1">
            <a:off x="3617775" y="4403029"/>
            <a:ext cx="230582" cy="601254"/>
          </a:xfrm>
          <a:custGeom>
            <a:rect b="b" l="l" r="r" t="t"/>
            <a:pathLst>
              <a:path extrusionOk="0" h="14545" w="2303">
                <a:moveTo>
                  <a:pt x="0" y="1"/>
                </a:moveTo>
                <a:lnTo>
                  <a:pt x="0" y="14545"/>
                </a:lnTo>
                <a:lnTo>
                  <a:pt x="2302" y="14545"/>
                </a:lnTo>
                <a:lnTo>
                  <a:pt x="230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40"/>
          <p:cNvSpPr/>
          <p:nvPr/>
        </p:nvSpPr>
        <p:spPr>
          <a:xfrm rot="4521258">
            <a:off x="8388132" y="4022235"/>
            <a:ext cx="451402" cy="433096"/>
          </a:xfrm>
          <a:custGeom>
            <a:rect b="b" l="l" r="r" t="t"/>
            <a:pathLst>
              <a:path extrusionOk="0" h="59990" w="59991">
                <a:moveTo>
                  <a:pt x="59990" y="0"/>
                </a:moveTo>
                <a:cubicBezTo>
                  <a:pt x="26871" y="0"/>
                  <a:pt x="1" y="26870"/>
                  <a:pt x="1" y="59989"/>
                </a:cubicBezTo>
                <a:lnTo>
                  <a:pt x="37819" y="59989"/>
                </a:lnTo>
                <a:cubicBezTo>
                  <a:pt x="37819" y="47691"/>
                  <a:pt x="47717" y="37693"/>
                  <a:pt x="59990" y="37693"/>
                </a:cubicBezTo>
                <a:lnTo>
                  <a:pt x="5999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40"/>
          <p:cNvSpPr/>
          <p:nvPr/>
        </p:nvSpPr>
        <p:spPr>
          <a:xfrm>
            <a:off x="8101426" y="4121423"/>
            <a:ext cx="745200" cy="745200"/>
          </a:xfrm>
          <a:prstGeom prst="blockArc">
            <a:avLst>
              <a:gd fmla="val 10781007" name="adj1"/>
              <a:gd fmla="val 6367446" name="adj2"/>
              <a:gd fmla="val 10626" name="adj3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737572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388" name="Google Shape;388;p40"/>
          <p:cNvSpPr/>
          <p:nvPr/>
        </p:nvSpPr>
        <p:spPr>
          <a:xfrm>
            <a:off x="8179951" y="4199942"/>
            <a:ext cx="587700" cy="587700"/>
          </a:xfrm>
          <a:prstGeom prst="blockArc">
            <a:avLst>
              <a:gd fmla="val 10800000" name="adj1"/>
              <a:gd fmla="val 2576230" name="adj2"/>
              <a:gd fmla="val 12216" name="adj3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737572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389" name="Google Shape;389;p40"/>
          <p:cNvSpPr/>
          <p:nvPr/>
        </p:nvSpPr>
        <p:spPr>
          <a:xfrm>
            <a:off x="8023878" y="4043921"/>
            <a:ext cx="900300" cy="900300"/>
          </a:xfrm>
          <a:prstGeom prst="blockArc">
            <a:avLst>
              <a:gd fmla="val 10779009" name="adj1"/>
              <a:gd fmla="val 8852557" name="adj2"/>
              <a:gd fmla="val 8766" name="adj3"/>
            </a:avLst>
          </a:prstGeom>
          <a:solidFill>
            <a:srgbClr val="F4A2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737572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oodle Flowchart Infographics by Slidesgo">
  <a:themeElements>
    <a:clrScheme name="Simple Light">
      <a:dk1>
        <a:srgbClr val="000000"/>
      </a:dk1>
      <a:lt1>
        <a:srgbClr val="FFFFFF"/>
      </a:lt1>
      <a:dk2>
        <a:srgbClr val="52489C"/>
      </a:dk2>
      <a:lt2>
        <a:srgbClr val="4062BB"/>
      </a:lt2>
      <a:accent1>
        <a:srgbClr val="59C3C3"/>
      </a:accent1>
      <a:accent2>
        <a:srgbClr val="0DBD8E"/>
      </a:accent2>
      <a:accent3>
        <a:srgbClr val="F45B69"/>
      </a:accent3>
      <a:accent4>
        <a:srgbClr val="EC7357"/>
      </a:accent4>
      <a:accent5>
        <a:srgbClr val="52489C"/>
      </a:accent5>
      <a:accent6>
        <a:srgbClr val="4062BB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Design Elements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264653"/>
      </a:accent1>
      <a:accent2>
        <a:srgbClr val="2A9D8F"/>
      </a:accent2>
      <a:accent3>
        <a:srgbClr val="8AB17D"/>
      </a:accent3>
      <a:accent4>
        <a:srgbClr val="E76F51"/>
      </a:accent4>
      <a:accent5>
        <a:srgbClr val="F4A261"/>
      </a:accent5>
      <a:accent6>
        <a:srgbClr val="E9C46A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